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457200" cy="45720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1097280"/>
            <a:ext cx="640080" cy="64008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5394960"/>
            <a:ext cx="411480" cy="411480"/>
          </a:xfrm>
          <a:prstGeom prst="ellipse">
            <a:avLst/>
          </a:prstGeom>
          <a:solidFill>
            <a:srgbClr val="FFD23D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5486400"/>
            <a:ext cx="548640" cy="5486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1965960"/>
            <a:ext cx="1216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pPr algn="ctr" indent="0" marL="0">
              <a:buNone/>
            </a:pPr>
            <a:r>
              <a:rPr lang="en-US" sz="7200" b="1" spc="100" kern="0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0" y="320040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9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inspiration into a consistent design system.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846320" y="3977640"/>
            <a:ext cx="2468880" cy="548640"/>
          </a:xfrm>
          <a:prstGeom prst="roundRect">
            <a:avLst>
              <a:gd name="adj" fmla="val 16667"/>
            </a:avLst>
          </a:prstGeom>
          <a:solidFill>
            <a:srgbClr val="5B2EFF"/>
          </a:solidFill>
          <a:ln w="19050">
            <a:solidFill>
              <a:srgbClr val="141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 TOOL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0" y="58978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makram  ·  Vibe Coding — Final Project  ·  Full PRD attached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Designers gather inspiration everywhere — but turning it into a coherent system is manual work.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03520" cy="402336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inspiration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880360"/>
            <a:ext cx="548640" cy="548640"/>
          </a:xfrm>
          <a:prstGeom prst="ellipse">
            <a:avLst/>
          </a:prstGeom>
          <a:solidFill>
            <a:srgbClr val="4A21E0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2880360"/>
            <a:ext cx="548640" cy="5486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2880360"/>
            <a:ext cx="548640" cy="548640"/>
          </a:xfrm>
          <a:prstGeom prst="ellipse">
            <a:avLst/>
          </a:prstGeom>
          <a:solidFill>
            <a:srgbClr val="5E33FF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2880360"/>
            <a:ext cx="548640" cy="548640"/>
          </a:xfrm>
          <a:prstGeom prst="ellipse">
            <a:avLst/>
          </a:prstGeom>
          <a:solidFill>
            <a:srgbClr val="6640FF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657600"/>
            <a:ext cx="548640" cy="548640"/>
          </a:xfrm>
          <a:prstGeom prst="ellipse">
            <a:avLst/>
          </a:prstGeom>
          <a:solidFill>
            <a:srgbClr val="5426F5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3657600"/>
            <a:ext cx="548640" cy="548640"/>
          </a:xfrm>
          <a:prstGeom prst="ellipse">
            <a:avLst/>
          </a:prstGeom>
          <a:solidFill>
            <a:srgbClr val="5230EE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3657600"/>
            <a:ext cx="548640" cy="548640"/>
          </a:xfrm>
          <a:prstGeom prst="ellipse">
            <a:avLst/>
          </a:prstGeom>
          <a:solidFill>
            <a:srgbClr val="6A47FF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3657600"/>
            <a:ext cx="548640" cy="548640"/>
          </a:xfrm>
          <a:prstGeom prst="ellipse">
            <a:avLst/>
          </a:prstGeom>
          <a:solidFill>
            <a:srgbClr val="4F24E8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34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near-identical blues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8006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 Inter 15px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 Roboto 16px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 Poppins 17px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1920240"/>
            <a:ext cx="5303520" cy="402336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hurts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29400" y="288036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Rebuilding a consistent system by hand is slow and error-prone</a:t>
            </a:r>
            <a:endParaRPr lang="en-US" sz="16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 and one-off values pile up — nothing is reusable</a:t>
            </a:r>
            <a:endParaRPr lang="en-US" sz="16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is always incomplete: missing states, scales, semantics</a:t>
            </a:r>
            <a:endParaRPr lang="en-US" sz="16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tools drift without a single source of truth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StyleSnap: the big idea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ecosystem that captures inspiration, assembles it into a design system, and exports a source of truth.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2860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31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22860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520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66160" y="292608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FFD23D"/>
          </a:solidFill>
          <a:ln w="19050">
            <a:solidFill>
              <a:srgbClr val="141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926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spc="100" kern="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80360" y="2788920"/>
            <a:ext cx="640080" cy="137160"/>
          </a:xfrm>
          <a:prstGeom prst="line">
            <a:avLst/>
          </a:prstGeom>
          <a:noFill/>
          <a:ln w="28575">
            <a:solidFill>
              <a:srgbClr val="14121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80360" y="3977640"/>
            <a:ext cx="640080" cy="-137160"/>
          </a:xfrm>
          <a:prstGeom prst="line">
            <a:avLst/>
          </a:prstGeom>
          <a:noFill/>
          <a:ln w="28575">
            <a:solidFill>
              <a:srgbClr val="14121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06440" y="2514600"/>
            <a:ext cx="2880360" cy="1645920"/>
          </a:xfrm>
          <a:prstGeom prst="roundRect">
            <a:avLst>
              <a:gd name="adj" fmla="val 7778"/>
            </a:avLst>
          </a:prstGeom>
          <a:solidFill>
            <a:srgbClr val="5B2E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89320" y="32461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9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· dedupe · assign roles · complete · export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349240" y="3337560"/>
            <a:ext cx="457200" cy="0"/>
          </a:xfrm>
          <a:prstGeom prst="line">
            <a:avLst/>
          </a:prstGeom>
          <a:noFill/>
          <a:ln w="28575">
            <a:solidFill>
              <a:srgbClr val="14121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235440" y="2423160"/>
            <a:ext cx="23774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35440" y="2423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design.md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235440" y="3429000"/>
            <a:ext cx="23774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35440" y="3429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732520" y="2880360"/>
            <a:ext cx="457200" cy="-45720"/>
          </a:xfrm>
          <a:prstGeom prst="line">
            <a:avLst/>
          </a:prstGeom>
          <a:noFill/>
          <a:ln w="28575">
            <a:solidFill>
              <a:srgbClr val="14121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732520" y="3840480"/>
            <a:ext cx="457200" cy="45720"/>
          </a:xfrm>
          <a:prstGeom prst="line">
            <a:avLst/>
          </a:prstGeom>
          <a:noFill/>
          <a:ln w="28575">
            <a:solidFill>
              <a:srgbClr val="14121F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surfaces, one locked JSON contract — the web app is where a messy pile becomes a real system.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fits in the design process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user-centered design cycle, StyleSnap bridges Explore → Define → Build.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0"/>
            <a:ext cx="18470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310896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450592" y="3566160"/>
            <a:ext cx="347472" cy="0"/>
          </a:xfrm>
          <a:prstGeom prst="line">
            <a:avLst/>
          </a:prstGeom>
          <a:noFill/>
          <a:ln w="28575">
            <a:solidFill>
              <a:srgbClr val="6B687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52928" y="3108960"/>
            <a:ext cx="1847088" cy="914400"/>
          </a:xfrm>
          <a:prstGeom prst="roundRect">
            <a:avLst>
              <a:gd name="adj" fmla="val 14000"/>
            </a:avLst>
          </a:prstGeom>
          <a:solidFill>
            <a:srgbClr val="5B2E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52928" y="310896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754880" y="3566160"/>
            <a:ext cx="347472" cy="0"/>
          </a:xfrm>
          <a:prstGeom prst="line">
            <a:avLst/>
          </a:prstGeom>
          <a:noFill/>
          <a:ln w="28575">
            <a:solidFill>
              <a:srgbClr val="6B687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57216" y="3108960"/>
            <a:ext cx="18470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57216" y="310896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059168" y="3566160"/>
            <a:ext cx="347472" cy="0"/>
          </a:xfrm>
          <a:prstGeom prst="line">
            <a:avLst/>
          </a:prstGeom>
          <a:noFill/>
          <a:ln w="28575">
            <a:solidFill>
              <a:srgbClr val="6B687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61504" y="3108960"/>
            <a:ext cx="18470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61504" y="310896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363456" y="3566160"/>
            <a:ext cx="347472" cy="0"/>
          </a:xfrm>
          <a:prstGeom prst="line">
            <a:avLst/>
          </a:prstGeom>
          <a:noFill/>
          <a:ln w="28575">
            <a:solidFill>
              <a:srgbClr val="6B687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765792" y="3108960"/>
            <a:ext cx="1847088" cy="914400"/>
          </a:xfrm>
          <a:prstGeom prst="roundRect">
            <a:avLst>
              <a:gd name="adj" fmla="val 14000"/>
            </a:avLst>
          </a:prstGeom>
          <a:solidFill>
            <a:srgbClr val="5B2E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65792" y="310896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2743200" y="2788920"/>
            <a:ext cx="8979408" cy="1554480"/>
          </a:xfrm>
          <a:prstGeom prst="roundRect">
            <a:avLst>
              <a:gd name="adj" fmla="val 7059"/>
            </a:avLst>
          </a:prstGeom>
          <a:solidFill>
            <a:srgbClr val="5B2EFF">
              <a:alpha val="12000"/>
            </a:srgbClr>
          </a:solidFill>
          <a:ln w="25400">
            <a:solidFill>
              <a:srgbClr val="5B2EFF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861304" y="452628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FF4D8D"/>
          </a:solidFill>
          <a:ln w="19050">
            <a:solidFill>
              <a:srgbClr val="1412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1304" y="4526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StyleSnap lives here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turns divergent inspiration-gathering into a converged, reusable foundation the whole team builds on.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helps UX designers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383280" cy="393192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21214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B2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 min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68680" y="40233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inspiration to an exportable design system in a single sitting.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383280" cy="393192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2103120"/>
            <a:ext cx="502920" cy="50292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21214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709160" y="2880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→ 1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709160" y="40233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 the near-duplicates and enforce one palette, one type scale, one system.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229600" y="1737360"/>
            <a:ext cx="3383280" cy="393192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95360" y="2103120"/>
            <a:ext cx="502920" cy="502920"/>
          </a:xfrm>
          <a:prstGeom prst="ellipse">
            <a:avLst/>
          </a:prstGeom>
          <a:solidFill>
            <a:srgbClr val="1FB877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21214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to code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549640" y="2880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B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file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8549640" y="40233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design.md AI coding tools apply without drift — or Figma Variables &amp; Styles.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4D8D"/>
          </a:solidFill>
          <a:ln w="19050">
            <a:solidFill>
              <a:srgbClr val="14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 Tool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messy pile becomes a clean system.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132320" y="1463040"/>
            <a:ext cx="44805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0" y="1463040"/>
            <a:ext cx="4480560" cy="457200"/>
          </a:xfrm>
          <a:prstGeom prst="rect">
            <a:avLst/>
          </a:prstGeom>
          <a:solidFill>
            <a:srgbClr val="FAF8F5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609344"/>
            <a:ext cx="164592" cy="164592"/>
          </a:xfrm>
          <a:prstGeom prst="ellipse">
            <a:avLst/>
          </a:prstGeom>
          <a:solidFill>
            <a:srgbClr val="FF4D8D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43800" y="1609344"/>
            <a:ext cx="164592" cy="164592"/>
          </a:xfrm>
          <a:prstGeom prst="ellipse">
            <a:avLst/>
          </a:prstGeom>
          <a:solidFill>
            <a:srgbClr val="FFD23D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1609344"/>
            <a:ext cx="164592" cy="164592"/>
          </a:xfrm>
          <a:prstGeom prst="ellipse">
            <a:avLst/>
          </a:prstGeom>
          <a:solidFill>
            <a:srgbClr val="1FB877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2240280"/>
            <a:ext cx="818388" cy="566928"/>
          </a:xfrm>
          <a:prstGeom prst="roundRect">
            <a:avLst>
              <a:gd name="adj" fmla="val 9677"/>
            </a:avLst>
          </a:prstGeom>
          <a:solidFill>
            <a:srgbClr val="5B2EFF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9620" y="2240280"/>
            <a:ext cx="818388" cy="566928"/>
          </a:xfrm>
          <a:prstGeom prst="roundRect">
            <a:avLst>
              <a:gd name="adj" fmla="val 9677"/>
            </a:avLst>
          </a:prstGeom>
          <a:solidFill>
            <a:srgbClr val="FF4D8D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72600" y="2240280"/>
            <a:ext cx="818388" cy="566928"/>
          </a:xfrm>
          <a:prstGeom prst="roundRect">
            <a:avLst>
              <a:gd name="adj" fmla="val 9677"/>
            </a:avLst>
          </a:prstGeom>
          <a:solidFill>
            <a:srgbClr val="FFD23D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55580" y="2240280"/>
            <a:ext cx="818388" cy="566928"/>
          </a:xfrm>
          <a:prstGeom prst="roundRect">
            <a:avLst>
              <a:gd name="adj" fmla="val 9677"/>
            </a:avLst>
          </a:prstGeom>
          <a:solidFill>
            <a:srgbClr val="1FB877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3017520"/>
            <a:ext cx="818388" cy="566928"/>
          </a:xfrm>
          <a:prstGeom prst="roundRect">
            <a:avLst>
              <a:gd name="adj" fmla="val 9677"/>
            </a:avLst>
          </a:prstGeom>
          <a:solidFill>
            <a:srgbClr val="14121F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9620" y="3017520"/>
            <a:ext cx="818388" cy="566928"/>
          </a:xfrm>
          <a:prstGeom prst="roundRect">
            <a:avLst>
              <a:gd name="adj" fmla="val 9677"/>
            </a:avLst>
          </a:prstGeom>
          <a:solidFill>
            <a:srgbClr val="2E8BFF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3017520"/>
            <a:ext cx="818388" cy="566928"/>
          </a:xfrm>
          <a:prstGeom prst="roundRect">
            <a:avLst>
              <a:gd name="adj" fmla="val 9677"/>
            </a:avLst>
          </a:prstGeom>
          <a:solidFill>
            <a:srgbClr val="6B6878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55580" y="3017520"/>
            <a:ext cx="818388" cy="566928"/>
          </a:xfrm>
          <a:prstGeom prst="roundRect">
            <a:avLst>
              <a:gd name="adj" fmla="val 9677"/>
            </a:avLst>
          </a:prstGeom>
          <a:solidFill>
            <a:srgbClr val="4A21E0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3794760"/>
            <a:ext cx="818388" cy="566928"/>
          </a:xfrm>
          <a:prstGeom prst="roundRect">
            <a:avLst>
              <a:gd name="adj" fmla="val 9677"/>
            </a:avLst>
          </a:prstGeom>
          <a:solidFill>
            <a:srgbClr val="FF6FA3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89620" y="3794760"/>
            <a:ext cx="818388" cy="566928"/>
          </a:xfrm>
          <a:prstGeom prst="roundRect">
            <a:avLst>
              <a:gd name="adj" fmla="val 9677"/>
            </a:avLst>
          </a:prstGeom>
          <a:solidFill>
            <a:srgbClr val="FFE07A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3794760"/>
            <a:ext cx="818388" cy="566928"/>
          </a:xfrm>
          <a:prstGeom prst="roundRect">
            <a:avLst>
              <a:gd name="adj" fmla="val 9677"/>
            </a:avLst>
          </a:prstGeom>
          <a:solidFill>
            <a:srgbClr val="3D17C2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55580" y="3794760"/>
            <a:ext cx="818388" cy="566928"/>
          </a:xfrm>
          <a:prstGeom prst="roundRect">
            <a:avLst>
              <a:gd name="adj" fmla="val 9677"/>
            </a:avLst>
          </a:prstGeom>
          <a:solidFill>
            <a:srgbClr val="9AE6C4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4892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workspace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web tool does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reviewed pipeline from imported capture to finished, exportable system.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36115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926080"/>
            <a:ext cx="13611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28078" y="3451860"/>
            <a:ext cx="201168" cy="0"/>
          </a:xfrm>
          <a:prstGeom prst="line">
            <a:avLst/>
          </a:prstGeom>
          <a:noFill/>
          <a:ln w="28575">
            <a:solidFill>
              <a:srgbClr val="6B687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65822" y="2926080"/>
            <a:ext cx="136115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65822" y="2926080"/>
            <a:ext cx="13611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45259" y="3451860"/>
            <a:ext cx="201168" cy="0"/>
          </a:xfrm>
          <a:prstGeom prst="line">
            <a:avLst/>
          </a:prstGeom>
          <a:noFill/>
          <a:ln w="28575">
            <a:solidFill>
              <a:srgbClr val="6B687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83003" y="2926080"/>
            <a:ext cx="136115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83003" y="2926080"/>
            <a:ext cx="13611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merge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62441" y="3451860"/>
            <a:ext cx="201168" cy="0"/>
          </a:xfrm>
          <a:prstGeom prst="line">
            <a:avLst/>
          </a:prstGeom>
          <a:noFill/>
          <a:ln w="28575">
            <a:solidFill>
              <a:srgbClr val="6B687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00185" y="2926080"/>
            <a:ext cx="136115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00185" y="2926080"/>
            <a:ext cx="13611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79623" y="3451860"/>
            <a:ext cx="201168" cy="0"/>
          </a:xfrm>
          <a:prstGeom prst="line">
            <a:avLst/>
          </a:prstGeom>
          <a:noFill/>
          <a:ln w="28575">
            <a:solidFill>
              <a:srgbClr val="6B687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17367" y="2926080"/>
            <a:ext cx="136115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17367" y="2926080"/>
            <a:ext cx="13611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96805" y="3451860"/>
            <a:ext cx="201168" cy="0"/>
          </a:xfrm>
          <a:prstGeom prst="line">
            <a:avLst/>
          </a:prstGeom>
          <a:noFill/>
          <a:ln w="28575">
            <a:solidFill>
              <a:srgbClr val="6B687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34549" y="2926080"/>
            <a:ext cx="1361150" cy="1051560"/>
          </a:xfrm>
          <a:prstGeom prst="roundRect">
            <a:avLst>
              <a:gd name="adj" fmla="val 12174"/>
            </a:avLst>
          </a:prstGeom>
          <a:solidFill>
            <a:srgbClr val="5B2E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34549" y="2926080"/>
            <a:ext cx="13611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013986" y="3451860"/>
            <a:ext cx="201168" cy="0"/>
          </a:xfrm>
          <a:prstGeom prst="line">
            <a:avLst/>
          </a:prstGeom>
          <a:noFill/>
          <a:ln w="28575">
            <a:solidFill>
              <a:srgbClr val="6B68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251730" y="2926080"/>
            <a:ext cx="136115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251730" y="2926080"/>
            <a:ext cx="13611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451669" y="4297680"/>
            <a:ext cx="1726910" cy="502920"/>
          </a:xfrm>
          <a:prstGeom prst="roundRect">
            <a:avLst>
              <a:gd name="adj" fmla="val 18182"/>
            </a:avLst>
          </a:prstGeom>
          <a:solidFill>
            <a:srgbClr val="FFD23D"/>
          </a:solidFill>
          <a:ln w="19050">
            <a:solidFill>
              <a:srgbClr val="1412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1669" y="4297680"/>
            <a:ext cx="17269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commit gate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before Create System is reversible; it produces the finalized, stable set.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is mandatory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Captured JSON is raw and untrusted.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carries duplicates and one-off values</a:t>
            </a:r>
            <a:endParaRPr lang="en-US" sz="16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are ambiguous until a human confirms them</a:t>
            </a:r>
            <a:endParaRPr lang="en-US" sz="16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holes a capture can never fill — states, scales, semantic colors</a:t>
            </a:r>
            <a:endParaRPr lang="en-US" sz="16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it unreviewed is neither safe nor useful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461772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5B2EFF"/>
          </a:solidFill>
          <a:ln w="19050">
            <a:solidFill>
              <a:srgbClr val="141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617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proposes, human disposes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0" y="1417320"/>
            <a:ext cx="4846320" cy="42976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86600" y="1645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 · review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086600" y="2194560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FAF8F5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0" y="232257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5B2EFF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21945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#5B2EFF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921240" y="2368296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FB877"/>
          </a:solidFill>
          <a:ln w="19050">
            <a:solidFill>
              <a:srgbClr val="1412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21240" y="23682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86600" y="3063240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FAF8F5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319125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5E33FF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306324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#5E33FF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921240" y="3236976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6B6878"/>
          </a:solidFill>
          <a:ln w="19050">
            <a:solidFill>
              <a:srgbClr val="1412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21240" y="32369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86600" y="3931920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FAF8F5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0" y="405993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6640FF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393192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#6640FF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921240" y="4105656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FFD23D"/>
          </a:solidFill>
          <a:ln w="19050">
            <a:solidFill>
              <a:srgbClr val="1412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21240" y="41056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86600" y="5212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merges without your confirmation.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deduplication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the “30 blues → 1” problem with perceptual color matching.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40080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560320"/>
            <a:ext cx="566928" cy="566928"/>
          </a:xfrm>
          <a:prstGeom prst="ellipse">
            <a:avLst/>
          </a:prstGeom>
          <a:solidFill>
            <a:srgbClr val="4A21E0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2560320"/>
            <a:ext cx="566928" cy="566928"/>
          </a:xfrm>
          <a:prstGeom prst="ellipse">
            <a:avLst/>
          </a:prstGeom>
          <a:solidFill>
            <a:srgbClr val="5B2EFF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2560320"/>
            <a:ext cx="566928" cy="566928"/>
          </a:xfrm>
          <a:prstGeom prst="ellipse">
            <a:avLst/>
          </a:prstGeom>
          <a:solidFill>
            <a:srgbClr val="5E33FF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383280"/>
            <a:ext cx="566928" cy="566928"/>
          </a:xfrm>
          <a:prstGeom prst="ellipse">
            <a:avLst/>
          </a:prstGeom>
          <a:solidFill>
            <a:srgbClr val="6640FF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3383280"/>
            <a:ext cx="566928" cy="566928"/>
          </a:xfrm>
          <a:prstGeom prst="ellipse">
            <a:avLst/>
          </a:prstGeom>
          <a:solidFill>
            <a:srgbClr val="5426F5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3383280"/>
            <a:ext cx="566928" cy="566928"/>
          </a:xfrm>
          <a:prstGeom prst="ellipse">
            <a:avLst/>
          </a:prstGeom>
          <a:solidFill>
            <a:srgbClr val="5230EE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4206240"/>
            <a:ext cx="566928" cy="566928"/>
          </a:xfrm>
          <a:prstGeom prst="ellipse">
            <a:avLst/>
          </a:prstGeom>
          <a:solidFill>
            <a:srgbClr val="6A47FF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4206240"/>
            <a:ext cx="566928" cy="566928"/>
          </a:xfrm>
          <a:prstGeom prst="ellipse">
            <a:avLst/>
          </a:prstGeom>
          <a:solidFill>
            <a:srgbClr val="4F24E8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4206240"/>
            <a:ext cx="566928" cy="566928"/>
          </a:xfrm>
          <a:prstGeom prst="ellipse">
            <a:avLst/>
          </a:prstGeom>
          <a:solidFill>
            <a:srgbClr val="5C31FA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3840480"/>
            <a:ext cx="1371600" cy="0"/>
          </a:xfrm>
          <a:prstGeom prst="line">
            <a:avLst/>
          </a:prstGeom>
          <a:noFill/>
          <a:ln w="28575">
            <a:solidFill>
              <a:srgbClr val="14121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74920" y="3063240"/>
            <a:ext cx="1554480" cy="1554480"/>
          </a:xfrm>
          <a:prstGeom prst="ellipse">
            <a:avLst/>
          </a:prstGeom>
          <a:solidFill>
            <a:srgbClr val="5B2EFF"/>
          </a:solidFill>
          <a:ln w="25400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74920" y="30632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14400" y="5257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near-identical blues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5257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canonical token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0" y="214884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Perceptual match (OKLCH / ΔE), not raw hex distance</a:t>
            </a:r>
            <a:endParaRPr lang="en-US" sz="16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clustering for spacing &amp; type — reveals clean scales</a:t>
            </a:r>
            <a:endParaRPr lang="en-US" sz="16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levels: exact duplicate vs. “similar” suggestion</a:t>
            </a:r>
            <a:endParaRPr lang="en-US" sz="16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Suggestive, never destructive — reversible until commit</a:t>
            </a:r>
            <a:endParaRPr lang="en-US" sz="16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“merge sensitivity” slider, not per-type knobs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Completing the system — manual + AI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what a full system is missing, then fill it — by hand or with AI suggestions.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762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checklist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788920"/>
            <a:ext cx="292608" cy="292608"/>
          </a:xfrm>
          <a:prstGeom prst="ellipse">
            <a:avLst/>
          </a:prstGeom>
          <a:solidFill>
            <a:srgbClr val="1FB877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7432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 palette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292608" cy="292608"/>
          </a:xfrm>
          <a:prstGeom prst="ellipse">
            <a:avLst/>
          </a:prstGeom>
          <a:solidFill>
            <a:srgbClr val="1FB877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2461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roles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14400" y="3794760"/>
            <a:ext cx="292608" cy="292608"/>
          </a:xfrm>
          <a:prstGeom prst="ellipse">
            <a:avLst/>
          </a:prstGeom>
          <a:solidFill>
            <a:srgbClr val="1FB877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7490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scale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14400" y="4297680"/>
            <a:ext cx="292608" cy="292608"/>
          </a:xfrm>
          <a:prstGeom prst="ellipse">
            <a:avLst/>
          </a:prstGeom>
          <a:solidFill>
            <a:srgbClr val="FAF8F5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7939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Spacing scale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914400" y="4800600"/>
            <a:ext cx="292608" cy="292608"/>
          </a:xfrm>
          <a:prstGeom prst="ellipse">
            <a:avLst/>
          </a:prstGeom>
          <a:solidFill>
            <a:srgbClr val="FAF8F5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78231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7548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states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914400" y="5303520"/>
            <a:ext cx="292608" cy="292608"/>
          </a:xfrm>
          <a:prstGeom prst="ellipse">
            <a:avLst/>
          </a:prstGeom>
          <a:solidFill>
            <a:srgbClr val="FAF8F5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28523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52578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colors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9224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each gap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92240" y="2514600"/>
            <a:ext cx="5120640" cy="822960"/>
          </a:xfrm>
          <a:prstGeom prst="roundRect">
            <a:avLst>
              <a:gd name="adj" fmla="val 15556"/>
            </a:avLst>
          </a:prstGeom>
          <a:solidFill>
            <a:srgbClr val="FAF8F5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0" y="2514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Gap:  </a:t>
            </a:r>
            <a:pPr indent="0" marL="0">
              <a:buNone/>
            </a:pPr>
            <a:r>
              <a:rPr lang="en-US" sz="1400" dirty="0">
                <a:solidFill>
                  <a:srgbClr val="141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spacing-scale missing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052560" y="3383280"/>
            <a:ext cx="0" cy="320040"/>
          </a:xfrm>
          <a:prstGeom prst="line">
            <a:avLst/>
          </a:prstGeom>
          <a:noFill/>
          <a:ln w="28575">
            <a:solidFill>
              <a:srgbClr val="14121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92240" y="3794760"/>
            <a:ext cx="512064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3794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suggests:  </a:t>
            </a:r>
            <a:pPr indent="0" marL="0">
              <a:buNone/>
            </a:pPr>
            <a:r>
              <a:rPr lang="en-US" sz="1400" dirty="0">
                <a:solidFill>
                  <a:srgbClr val="141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8 · 12 · 16 · 24 · 32 · 48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052560" y="4754880"/>
            <a:ext cx="0" cy="320040"/>
          </a:xfrm>
          <a:prstGeom prst="line">
            <a:avLst/>
          </a:prstGeom>
          <a:noFill/>
          <a:ln w="28575">
            <a:solidFill>
              <a:srgbClr val="14121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92240" y="5166360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1FB877"/>
          </a:solidFill>
          <a:ln w="19050">
            <a:solidFill>
              <a:srgbClr val="1412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5166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confirm  ·  edit  ·  or reject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deliverable: design.md (+ Figma)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source of truth — paste into Claude Code / Cursor, or push to Figma.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400800" cy="3931920"/>
          </a:xfrm>
          <a:prstGeom prst="roundRect">
            <a:avLst>
              <a:gd name="adj" fmla="val 2791"/>
            </a:avLst>
          </a:prstGeom>
          <a:solidFill>
            <a:srgbClr val="14121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94560"/>
            <a:ext cx="5760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D2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Design System — StyleSnap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9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Colors (semantic → primitive)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color.action.primary → indigo/#5B2EFF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(from Button/Primary)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color.text.primary   → ink/#14121F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9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Spacing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space.md 16px · space.lg 24px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9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Radius / Shadow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radius.md 14px · shadow.card 4/4/0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66560" y="20116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Semantic-first, two-tier — roles lead, primitives underneath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annotated (from Button/Primary)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ordering — clean git diffs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Markdown — works in any AI coding tool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0" y="4434840"/>
            <a:ext cx="4846320" cy="128016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40880" y="4526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→ Figma Variables &amp; Styles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0" y="5029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slash-nested names, primitive → semantic aliasing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roadmap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38328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92024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5B2EFF"/>
          </a:solidFill>
          <a:ln w="19050">
            <a:solidFill>
              <a:srgbClr val="141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— MVP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+ validate JSON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workspace + review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dedup &amp; merge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roles + gap completion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design.md export · in-session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38328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92024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FF4D8D"/>
          </a:solidFill>
          <a:ln w="19050">
            <a:solidFill>
              <a:srgbClr val="141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920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— V2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260604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assistance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/ role suggestion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gap-fill + naming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automation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draft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0" y="1645920"/>
            <a:ext cx="338328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503920" y="192024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6B6878"/>
          </a:solidFill>
          <a:ln w="19050">
            <a:solidFill>
              <a:srgbClr val="1412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920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— V3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49640" y="260604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Variables export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persistence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reconstruction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Multi-import at scale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12174"/>
            </a:avLst>
          </a:prstGeom>
          <a:solidFill>
            <a:srgbClr val="FAF8F5"/>
          </a:solidFill>
          <a:ln w="22225">
            <a:solidFill>
              <a:srgbClr val="1412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21F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52578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</a:t>
            </a:r>
            <a:pPr indent="0" marL="0">
              <a:buNone/>
            </a:pPr>
            <a:r>
              <a:rPr lang="en-US" sz="14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 · static · types.ts is the locked contract.    </a:t>
            </a:r>
            <a:pPr indent="0" marL="0">
              <a:buNone/>
            </a:pPr>
            <a:r>
              <a:rPr lang="en-US" sz="1450" b="1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Ownership: </a:t>
            </a:r>
            <a:pPr indent="0" marL="0">
              <a:buNone/>
            </a:pPr>
            <a:r>
              <a:rPr lang="en-US" sz="1450" dirty="0">
                <a:solidFill>
                  <a:srgbClr val="1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= makram · extension = Murtaza · Figma plugin = Theresa.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05840"/>
            <a:ext cx="502920" cy="502920"/>
          </a:xfrm>
          <a:prstGeom prst="ellipse">
            <a:avLst/>
          </a:prstGeom>
          <a:solidFill>
            <a:srgbClr val="FFD23D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1280160"/>
            <a:ext cx="640080" cy="64008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4240" y="5303520"/>
            <a:ext cx="457200" cy="45720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141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01168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inspiration to 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278892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code-ready design system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in minutes.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0" y="4206240"/>
            <a:ext cx="1216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pPr algn="ctr" indent="0" marL="0">
              <a:buNone/>
            </a:pPr>
            <a:r>
              <a:rPr lang="en-US" sz="3000" b="1" dirty="0">
                <a:solidFill>
                  <a:srgbClr val="5B2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0" y="49377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makram · Vibe Coding Final Project · full PRD attached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StyleSnap — The Web Tool</dc:title>
  <dc:subject>PptxGenJS Presentation</dc:subject>
  <dc:creator>makram</dc:creator>
  <cp:lastModifiedBy>makram</cp:lastModifiedBy>
  <cp:revision>1</cp:revision>
  <dcterms:created xsi:type="dcterms:W3CDTF">2026-07-01T12:44:36Z</dcterms:created>
  <dcterms:modified xsi:type="dcterms:W3CDTF">2026-07-01T12:44:36Z</dcterms:modified>
</cp:coreProperties>
</file>