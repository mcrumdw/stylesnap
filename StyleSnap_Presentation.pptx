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22" d="100"/>
          <a:sy n="122" d="100"/>
        </p:scale>
        <p:origin x="22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3458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We're presenting StyleSnap — a tool that turns web inspiration and Figma designs into a design system automatically. Team: Theresa, Makram and Murtaza. ~20 sec.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design tokens get rebuilt by hand. There's no structured way to pull them from finished designs, and the handoff to developers and AI is inconsistent. On the right: four near-identical blues — exactly the kind of mess that piles up. ~45 sec.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audience: UX/UI designers deriving a system from finished designs, and small teams or students working from both web inspiration and Figma. The core promise: from screen to system in under ten minutes. ~40 sec.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StyleSnap has three capture surfaces: a browser extension, a Figma plugin and a webtool. The key: all three speak the same token schema, types.ts — so the handoff between them always fits. ~45 sec.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first Capture — grab tokens as raw JSON. Second Review and Merge — combine duplicates, name them, assign roles; the human reviews, the tool only suggests, never destructive. Third Export — as design.md for AI tools and back into Figma. ~45 sec.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loop on a real example — a weather app screen. It's captured into 18 tokens, deduplicated and counted: the purple surface, the yellow sun, the blue rain. In the webtool they get names and roles, and through the plugin they land back in Figma as real Paint Styles, Text Styles and Variables. ~50 sec.</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carry the project technically: a shared types.ts as the single source of truth; the suggestive-never-destructive principle; a deterministic design.md that diffs cleanly; and automatic Vercel deployment. What's next: component reconstruction, the W3C standard, dark mode. ~40 sec.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team, all three of us owned one surface: Theresa the Figma plugin — extraction and round-trip; Makram the webtool with merge, roles and the design.md export; Murtaza the browser extension, the Web Picker. Thank you — happy to take questions. ~20 sec.</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640080" y="457200"/>
            <a:ext cx="4572000" cy="457200"/>
          </a:xfrm>
          <a:prstGeom prst="rect">
            <a:avLst/>
          </a:prstGeom>
          <a:noFill/>
          <a:ln/>
        </p:spPr>
        <p:txBody>
          <a:bodyPr wrap="square" lIns="0" tIns="0" rIns="0" bIns="0" rtlCol="0" anchor="ctr"/>
          <a:lstStyle/>
          <a:p>
            <a:pPr marL="0" indent="0" algn="l">
              <a:buNone/>
            </a:pPr>
            <a:r>
              <a:rPr lang="en-US" sz="2200" b="1" dirty="0">
                <a:solidFill>
                  <a:srgbClr val="14121F"/>
                </a:solidFill>
                <a:latin typeface="Space Grotesk" pitchFamily="34" charset="0"/>
                <a:ea typeface="Space Grotesk" pitchFamily="34" charset="-122"/>
                <a:cs typeface="Space Grotesk" pitchFamily="34" charset="-120"/>
              </a:rPr>
              <a:t>Style</a:t>
            </a:r>
            <a:r>
              <a:rPr lang="en-US" sz="2200" b="1" dirty="0">
                <a:solidFill>
                  <a:srgbClr val="5B2EFF"/>
                </a:solidFill>
                <a:latin typeface="Space Grotesk" pitchFamily="34" charset="0"/>
                <a:ea typeface="Space Grotesk" pitchFamily="34" charset="-122"/>
                <a:cs typeface="Space Grotesk" pitchFamily="34" charset="-120"/>
              </a:rPr>
              <a:t>Snap</a:t>
            </a:r>
            <a:endParaRPr lang="en-US" sz="2200" dirty="0"/>
          </a:p>
        </p:txBody>
      </p:sp>
      <p:sp>
        <p:nvSpPr>
          <p:cNvPr id="3" name="Text 1"/>
          <p:cNvSpPr/>
          <p:nvPr/>
        </p:nvSpPr>
        <p:spPr>
          <a:xfrm>
            <a:off x="621792" y="1691640"/>
            <a:ext cx="10515600" cy="2011680"/>
          </a:xfrm>
          <a:prstGeom prst="rect">
            <a:avLst/>
          </a:prstGeom>
          <a:noFill/>
          <a:ln/>
        </p:spPr>
        <p:txBody>
          <a:bodyPr wrap="square" lIns="0" tIns="0" rIns="0" bIns="0" rtlCol="0" anchor="ctr"/>
          <a:lstStyle/>
          <a:p>
            <a:pPr marL="0" indent="0" algn="l">
              <a:lnSpc>
                <a:spcPct val="98000"/>
              </a:lnSpc>
              <a:buNone/>
            </a:pPr>
            <a:r>
              <a:rPr lang="en-US" sz="6600" b="1" dirty="0">
                <a:solidFill>
                  <a:srgbClr val="14121F"/>
                </a:solidFill>
                <a:latin typeface="Space Grotesk" pitchFamily="34" charset="0"/>
                <a:ea typeface="Space Grotesk" pitchFamily="34" charset="-122"/>
                <a:cs typeface="Space Grotesk" pitchFamily="34" charset="-120"/>
              </a:rPr>
              <a:t>From inspiration</a:t>
            </a:r>
            <a:endParaRPr lang="en-US" sz="6600" dirty="0"/>
          </a:p>
          <a:p>
            <a:pPr marL="0" indent="0" algn="l">
              <a:lnSpc>
                <a:spcPct val="98000"/>
              </a:lnSpc>
              <a:buNone/>
            </a:pPr>
            <a:r>
              <a:rPr lang="en-US" sz="6600" b="1" dirty="0">
                <a:solidFill>
                  <a:srgbClr val="14121F"/>
                </a:solidFill>
                <a:latin typeface="Space Grotesk" pitchFamily="34" charset="0"/>
                <a:ea typeface="Space Grotesk" pitchFamily="34" charset="-122"/>
                <a:cs typeface="Space Grotesk" pitchFamily="34" charset="-120"/>
              </a:rPr>
              <a:t>to a design system.</a:t>
            </a:r>
            <a:endParaRPr lang="en-US" sz="6600" dirty="0"/>
          </a:p>
        </p:txBody>
      </p:sp>
      <p:sp>
        <p:nvSpPr>
          <p:cNvPr id="4" name="Text 2"/>
          <p:cNvSpPr/>
          <p:nvPr/>
        </p:nvSpPr>
        <p:spPr>
          <a:xfrm>
            <a:off x="658368" y="3794760"/>
            <a:ext cx="8412480" cy="822960"/>
          </a:xfrm>
          <a:prstGeom prst="rect">
            <a:avLst/>
          </a:prstGeom>
          <a:noFill/>
          <a:ln/>
        </p:spPr>
        <p:txBody>
          <a:bodyPr wrap="square" lIns="0" tIns="0" rIns="0" bIns="0" rtlCol="0" anchor="ctr"/>
          <a:lstStyle/>
          <a:p>
            <a:pPr marL="0" indent="0" algn="l">
              <a:lnSpc>
                <a:spcPct val="125000"/>
              </a:lnSpc>
              <a:buNone/>
            </a:pPr>
            <a:r>
              <a:rPr lang="en-US" sz="1600" dirty="0">
                <a:solidFill>
                  <a:srgbClr val="6B6878"/>
                </a:solidFill>
                <a:latin typeface="Inter" pitchFamily="34" charset="0"/>
                <a:ea typeface="Inter" pitchFamily="34" charset="-122"/>
                <a:cs typeface="Inter" pitchFamily="34" charset="-120"/>
              </a:rPr>
              <a:t>One click captures design tokens from the web and from Figma — StyleSnap turns them into a consistent, exportable design system.</a:t>
            </a:r>
            <a:endParaRPr lang="en-US" sz="1600" dirty="0"/>
          </a:p>
        </p:txBody>
      </p:sp>
      <p:sp>
        <p:nvSpPr>
          <p:cNvPr id="5" name="Shape 3"/>
          <p:cNvSpPr/>
          <p:nvPr/>
        </p:nvSpPr>
        <p:spPr>
          <a:xfrm>
            <a:off x="658368" y="4892040"/>
            <a:ext cx="1060704" cy="603504"/>
          </a:xfrm>
          <a:prstGeom prst="roundRect">
            <a:avLst>
              <a:gd name="adj" fmla="val 15152"/>
            </a:avLst>
          </a:prstGeom>
          <a:solidFill>
            <a:srgbClr val="F3FFE3"/>
          </a:solidFill>
          <a:ln w="22225">
            <a:solidFill>
              <a:srgbClr val="14121F"/>
            </a:solidFill>
            <a:prstDash val="solid"/>
          </a:ln>
          <a:effectLst>
            <a:outerShdw blurRad="101600" dist="38100" dir="2700000" algn="bl" rotWithShape="0">
              <a:srgbClr val="14121F">
                <a:alpha val="100000"/>
              </a:srgbClr>
            </a:outerShdw>
          </a:effectLst>
        </p:spPr>
        <p:txBody>
          <a:bodyPr/>
          <a:lstStyle/>
          <a:p>
            <a:endParaRPr lang="de-DE"/>
          </a:p>
        </p:txBody>
      </p:sp>
      <p:sp>
        <p:nvSpPr>
          <p:cNvPr id="6" name="Text 4"/>
          <p:cNvSpPr/>
          <p:nvPr/>
        </p:nvSpPr>
        <p:spPr>
          <a:xfrm>
            <a:off x="612648" y="5532120"/>
            <a:ext cx="1152144" cy="256032"/>
          </a:xfrm>
          <a:prstGeom prst="rect">
            <a:avLst/>
          </a:prstGeom>
          <a:noFill/>
          <a:ln/>
        </p:spPr>
        <p:txBody>
          <a:bodyPr wrap="square" lIns="0" tIns="0" rIns="0" bIns="0" rtlCol="0" anchor="ctr"/>
          <a:lstStyle/>
          <a:p>
            <a:pPr marL="0" indent="0" algn="ctr">
              <a:buNone/>
            </a:pPr>
            <a:r>
              <a:rPr lang="en-US" sz="900" dirty="0">
                <a:solidFill>
                  <a:srgbClr val="6B6878"/>
                </a:solidFill>
                <a:latin typeface="JetBrains Mono" pitchFamily="34" charset="0"/>
                <a:ea typeface="JetBrains Mono" pitchFamily="34" charset="-122"/>
                <a:cs typeface="JetBrains Mono" pitchFamily="34" charset="-120"/>
              </a:rPr>
              <a:t>Primary</a:t>
            </a:r>
            <a:endParaRPr lang="en-US" sz="900" dirty="0"/>
          </a:p>
        </p:txBody>
      </p:sp>
      <p:sp>
        <p:nvSpPr>
          <p:cNvPr id="7" name="Shape 5"/>
          <p:cNvSpPr/>
          <p:nvPr/>
        </p:nvSpPr>
        <p:spPr>
          <a:xfrm>
            <a:off x="1883664" y="4892040"/>
            <a:ext cx="1060704" cy="603504"/>
          </a:xfrm>
          <a:prstGeom prst="roundRect">
            <a:avLst>
              <a:gd name="adj" fmla="val 15152"/>
            </a:avLst>
          </a:prstGeom>
          <a:solidFill>
            <a:srgbClr val="D8E8BE"/>
          </a:solidFill>
          <a:ln w="22225">
            <a:solidFill>
              <a:srgbClr val="14121F"/>
            </a:solidFill>
            <a:prstDash val="solid"/>
          </a:ln>
          <a:effectLst>
            <a:outerShdw blurRad="101600" dist="38100" dir="2700000" algn="bl" rotWithShape="0">
              <a:srgbClr val="14121F">
                <a:alpha val="100000"/>
              </a:srgbClr>
            </a:outerShdw>
          </a:effectLst>
        </p:spPr>
        <p:txBody>
          <a:bodyPr/>
          <a:lstStyle/>
          <a:p>
            <a:endParaRPr lang="de-DE"/>
          </a:p>
        </p:txBody>
      </p:sp>
      <p:sp>
        <p:nvSpPr>
          <p:cNvPr id="8" name="Text 6"/>
          <p:cNvSpPr/>
          <p:nvPr/>
        </p:nvSpPr>
        <p:spPr>
          <a:xfrm>
            <a:off x="1837944" y="5532120"/>
            <a:ext cx="1152144" cy="256032"/>
          </a:xfrm>
          <a:prstGeom prst="rect">
            <a:avLst/>
          </a:prstGeom>
          <a:noFill/>
          <a:ln/>
        </p:spPr>
        <p:txBody>
          <a:bodyPr wrap="square" lIns="0" tIns="0" rIns="0" bIns="0" rtlCol="0" anchor="ctr"/>
          <a:lstStyle/>
          <a:p>
            <a:pPr marL="0" indent="0" algn="ctr">
              <a:buNone/>
            </a:pPr>
            <a:r>
              <a:rPr lang="en-US" sz="900" dirty="0">
                <a:solidFill>
                  <a:srgbClr val="6B6878"/>
                </a:solidFill>
                <a:latin typeface="JetBrains Mono" pitchFamily="34" charset="0"/>
                <a:ea typeface="JetBrains Mono" pitchFamily="34" charset="-122"/>
                <a:cs typeface="JetBrains Mono" pitchFamily="34" charset="-120"/>
              </a:rPr>
              <a:t>Hover</a:t>
            </a:r>
            <a:endParaRPr lang="en-US" sz="900" dirty="0"/>
          </a:p>
        </p:txBody>
      </p:sp>
      <p:sp>
        <p:nvSpPr>
          <p:cNvPr id="9" name="Shape 7"/>
          <p:cNvSpPr/>
          <p:nvPr/>
        </p:nvSpPr>
        <p:spPr>
          <a:xfrm>
            <a:off x="3108960" y="4892040"/>
            <a:ext cx="1060704" cy="603504"/>
          </a:xfrm>
          <a:prstGeom prst="roundRect">
            <a:avLst>
              <a:gd name="adj" fmla="val 15152"/>
            </a:avLst>
          </a:prstGeom>
          <a:solidFill>
            <a:srgbClr val="7D728A"/>
          </a:solidFill>
          <a:ln w="22225">
            <a:solidFill>
              <a:srgbClr val="14121F"/>
            </a:solidFill>
            <a:prstDash val="solid"/>
          </a:ln>
          <a:effectLst>
            <a:outerShdw blurRad="101600" dist="38100" dir="2700000" algn="bl" rotWithShape="0">
              <a:srgbClr val="14121F">
                <a:alpha val="100000"/>
              </a:srgbClr>
            </a:outerShdw>
          </a:effectLst>
        </p:spPr>
        <p:txBody>
          <a:bodyPr/>
          <a:lstStyle/>
          <a:p>
            <a:endParaRPr lang="de-DE"/>
          </a:p>
        </p:txBody>
      </p:sp>
      <p:sp>
        <p:nvSpPr>
          <p:cNvPr id="10" name="Text 8"/>
          <p:cNvSpPr/>
          <p:nvPr/>
        </p:nvSpPr>
        <p:spPr>
          <a:xfrm>
            <a:off x="3063240" y="5532120"/>
            <a:ext cx="1152144" cy="256032"/>
          </a:xfrm>
          <a:prstGeom prst="rect">
            <a:avLst/>
          </a:prstGeom>
          <a:noFill/>
          <a:ln/>
        </p:spPr>
        <p:txBody>
          <a:bodyPr wrap="square" lIns="0" tIns="0" rIns="0" bIns="0" rtlCol="0" anchor="ctr"/>
          <a:lstStyle/>
          <a:p>
            <a:pPr marL="0" indent="0" algn="ctr">
              <a:buNone/>
            </a:pPr>
            <a:r>
              <a:rPr lang="en-US" sz="900" dirty="0">
                <a:solidFill>
                  <a:srgbClr val="6B6878"/>
                </a:solidFill>
                <a:latin typeface="JetBrains Mono" pitchFamily="34" charset="0"/>
                <a:ea typeface="JetBrains Mono" pitchFamily="34" charset="-122"/>
                <a:cs typeface="JetBrains Mono" pitchFamily="34" charset="-120"/>
              </a:rPr>
              <a:t>Secondary</a:t>
            </a:r>
            <a:endParaRPr lang="en-US" sz="900" dirty="0"/>
          </a:p>
        </p:txBody>
      </p:sp>
      <p:sp>
        <p:nvSpPr>
          <p:cNvPr id="11" name="Shape 9"/>
          <p:cNvSpPr/>
          <p:nvPr/>
        </p:nvSpPr>
        <p:spPr>
          <a:xfrm>
            <a:off x="4334256" y="4892040"/>
            <a:ext cx="1060704" cy="603504"/>
          </a:xfrm>
          <a:prstGeom prst="roundRect">
            <a:avLst>
              <a:gd name="adj" fmla="val 15152"/>
            </a:avLst>
          </a:prstGeom>
          <a:solidFill>
            <a:srgbClr val="181C12"/>
          </a:solidFill>
          <a:ln w="22225">
            <a:solidFill>
              <a:srgbClr val="14121F"/>
            </a:solidFill>
            <a:prstDash val="solid"/>
          </a:ln>
          <a:effectLst>
            <a:outerShdw blurRad="101600" dist="38100" dir="2700000" algn="bl" rotWithShape="0">
              <a:srgbClr val="14121F">
                <a:alpha val="100000"/>
              </a:srgbClr>
            </a:outerShdw>
          </a:effectLst>
        </p:spPr>
        <p:txBody>
          <a:bodyPr/>
          <a:lstStyle/>
          <a:p>
            <a:endParaRPr lang="de-DE"/>
          </a:p>
        </p:txBody>
      </p:sp>
      <p:sp>
        <p:nvSpPr>
          <p:cNvPr id="12" name="Text 10"/>
          <p:cNvSpPr/>
          <p:nvPr/>
        </p:nvSpPr>
        <p:spPr>
          <a:xfrm>
            <a:off x="4288536" y="5532120"/>
            <a:ext cx="1152144" cy="256032"/>
          </a:xfrm>
          <a:prstGeom prst="rect">
            <a:avLst/>
          </a:prstGeom>
          <a:noFill/>
          <a:ln/>
        </p:spPr>
        <p:txBody>
          <a:bodyPr wrap="square" lIns="0" tIns="0" rIns="0" bIns="0" rtlCol="0" anchor="ctr"/>
          <a:lstStyle/>
          <a:p>
            <a:pPr marL="0" indent="0" algn="ctr">
              <a:buNone/>
            </a:pPr>
            <a:r>
              <a:rPr lang="en-US" sz="900" dirty="0">
                <a:solidFill>
                  <a:srgbClr val="6B6878"/>
                </a:solidFill>
                <a:latin typeface="JetBrains Mono" pitchFamily="34" charset="0"/>
                <a:ea typeface="JetBrains Mono" pitchFamily="34" charset="-122"/>
                <a:cs typeface="JetBrains Mono" pitchFamily="34" charset="-120"/>
              </a:rPr>
              <a:t>Text</a:t>
            </a:r>
            <a:endParaRPr lang="en-US" sz="900" dirty="0"/>
          </a:p>
        </p:txBody>
      </p:sp>
      <p:sp>
        <p:nvSpPr>
          <p:cNvPr id="13" name="Shape 11"/>
          <p:cNvSpPr/>
          <p:nvPr/>
        </p:nvSpPr>
        <p:spPr>
          <a:xfrm>
            <a:off x="5559552" y="4892040"/>
            <a:ext cx="1060704" cy="603504"/>
          </a:xfrm>
          <a:prstGeom prst="roundRect">
            <a:avLst>
              <a:gd name="adj" fmla="val 15152"/>
            </a:avLst>
          </a:prstGeom>
          <a:solidFill>
            <a:srgbClr val="EEF7E0"/>
          </a:solidFill>
          <a:ln w="22225">
            <a:solidFill>
              <a:srgbClr val="14121F"/>
            </a:solidFill>
            <a:prstDash val="solid"/>
          </a:ln>
          <a:effectLst>
            <a:outerShdw blurRad="101600" dist="38100" dir="2700000" algn="bl" rotWithShape="0">
              <a:srgbClr val="14121F">
                <a:alpha val="100000"/>
              </a:srgbClr>
            </a:outerShdw>
          </a:effectLst>
        </p:spPr>
        <p:txBody>
          <a:bodyPr/>
          <a:lstStyle/>
          <a:p>
            <a:endParaRPr lang="de-DE"/>
          </a:p>
        </p:txBody>
      </p:sp>
      <p:sp>
        <p:nvSpPr>
          <p:cNvPr id="14" name="Text 12"/>
          <p:cNvSpPr/>
          <p:nvPr/>
        </p:nvSpPr>
        <p:spPr>
          <a:xfrm>
            <a:off x="5513832" y="5532120"/>
            <a:ext cx="1152144" cy="256032"/>
          </a:xfrm>
          <a:prstGeom prst="rect">
            <a:avLst/>
          </a:prstGeom>
          <a:noFill/>
          <a:ln/>
        </p:spPr>
        <p:txBody>
          <a:bodyPr wrap="square" lIns="0" tIns="0" rIns="0" bIns="0" rtlCol="0" anchor="ctr"/>
          <a:lstStyle/>
          <a:p>
            <a:pPr marL="0" indent="0" algn="ctr">
              <a:buNone/>
            </a:pPr>
            <a:r>
              <a:rPr lang="en-US" sz="900" dirty="0">
                <a:solidFill>
                  <a:srgbClr val="6B6878"/>
                </a:solidFill>
                <a:latin typeface="JetBrains Mono" pitchFamily="34" charset="0"/>
                <a:ea typeface="JetBrains Mono" pitchFamily="34" charset="-122"/>
                <a:cs typeface="JetBrains Mono" pitchFamily="34" charset="-120"/>
              </a:rPr>
              <a:t>Surface</a:t>
            </a:r>
            <a:endParaRPr lang="en-US" sz="900" dirty="0"/>
          </a:p>
        </p:txBody>
      </p:sp>
      <p:sp>
        <p:nvSpPr>
          <p:cNvPr id="15" name="Shape 13"/>
          <p:cNvSpPr/>
          <p:nvPr/>
        </p:nvSpPr>
        <p:spPr>
          <a:xfrm>
            <a:off x="6784848" y="4892040"/>
            <a:ext cx="1060704" cy="603504"/>
          </a:xfrm>
          <a:prstGeom prst="roundRect">
            <a:avLst>
              <a:gd name="adj" fmla="val 15152"/>
            </a:avLst>
          </a:prstGeom>
          <a:solidFill>
            <a:srgbClr val="6E8B6E"/>
          </a:solidFill>
          <a:ln w="22225">
            <a:solidFill>
              <a:srgbClr val="14121F"/>
            </a:solidFill>
            <a:prstDash val="solid"/>
          </a:ln>
          <a:effectLst>
            <a:outerShdw blurRad="101600" dist="38100" dir="2700000" algn="bl" rotWithShape="0">
              <a:srgbClr val="14121F">
                <a:alpha val="100000"/>
              </a:srgbClr>
            </a:outerShdw>
          </a:effectLst>
        </p:spPr>
        <p:txBody>
          <a:bodyPr/>
          <a:lstStyle/>
          <a:p>
            <a:endParaRPr lang="de-DE"/>
          </a:p>
        </p:txBody>
      </p:sp>
      <p:sp>
        <p:nvSpPr>
          <p:cNvPr id="16" name="Text 14"/>
          <p:cNvSpPr/>
          <p:nvPr/>
        </p:nvSpPr>
        <p:spPr>
          <a:xfrm>
            <a:off x="6739128" y="5532120"/>
            <a:ext cx="1152144" cy="256032"/>
          </a:xfrm>
          <a:prstGeom prst="rect">
            <a:avLst/>
          </a:prstGeom>
          <a:noFill/>
          <a:ln/>
        </p:spPr>
        <p:txBody>
          <a:bodyPr wrap="square" lIns="0" tIns="0" rIns="0" bIns="0" rtlCol="0" anchor="ctr"/>
          <a:lstStyle/>
          <a:p>
            <a:pPr marL="0" indent="0" algn="ctr">
              <a:buNone/>
            </a:pPr>
            <a:r>
              <a:rPr lang="en-US" sz="900" dirty="0">
                <a:solidFill>
                  <a:srgbClr val="6B6878"/>
                </a:solidFill>
                <a:latin typeface="JetBrains Mono" pitchFamily="34" charset="0"/>
                <a:ea typeface="JetBrains Mono" pitchFamily="34" charset="-122"/>
                <a:cs typeface="JetBrains Mono" pitchFamily="34" charset="-120"/>
              </a:rPr>
              <a:t>Success</a:t>
            </a:r>
            <a:endParaRPr lang="en-US" sz="900" dirty="0"/>
          </a:p>
        </p:txBody>
      </p:sp>
      <p:sp>
        <p:nvSpPr>
          <p:cNvPr id="17" name="Text 15"/>
          <p:cNvSpPr/>
          <p:nvPr/>
        </p:nvSpPr>
        <p:spPr>
          <a:xfrm>
            <a:off x="658368" y="6126480"/>
            <a:ext cx="7315200" cy="365760"/>
          </a:xfrm>
          <a:prstGeom prst="rect">
            <a:avLst/>
          </a:prstGeom>
          <a:noFill/>
          <a:ln/>
        </p:spPr>
        <p:txBody>
          <a:bodyPr wrap="square" lIns="0" tIns="0" rIns="0" bIns="0" rtlCol="0" anchor="ctr"/>
          <a:lstStyle/>
          <a:p>
            <a:pPr marL="0" indent="0" algn="l">
              <a:buNone/>
            </a:pPr>
            <a:r>
              <a:rPr lang="en-US" sz="1300" b="1" dirty="0">
                <a:solidFill>
                  <a:srgbClr val="14121F"/>
                </a:solidFill>
                <a:latin typeface="Inter" pitchFamily="34" charset="0"/>
                <a:ea typeface="Inter" pitchFamily="34" charset="-122"/>
                <a:cs typeface="Inter" pitchFamily="34" charset="-120"/>
              </a:rPr>
              <a:t>Theresa  ·  Makram  ·  Murtaza</a:t>
            </a:r>
            <a:endParaRPr lang="en-US" sz="1300" dirty="0"/>
          </a:p>
        </p:txBody>
      </p:sp>
      <p:sp>
        <p:nvSpPr>
          <p:cNvPr id="18" name="Text 16"/>
          <p:cNvSpPr/>
          <p:nvPr/>
        </p:nvSpPr>
        <p:spPr>
          <a:xfrm>
            <a:off x="658368" y="6446520"/>
            <a:ext cx="7315200" cy="274320"/>
          </a:xfrm>
          <a:prstGeom prst="rect">
            <a:avLst/>
          </a:prstGeom>
          <a:noFill/>
          <a:ln/>
        </p:spPr>
        <p:txBody>
          <a:bodyPr wrap="square" lIns="0" tIns="0" rIns="0" bIns="0" rtlCol="0" anchor="ctr"/>
          <a:lstStyle/>
          <a:p>
            <a:pPr marL="0" indent="0" algn="l">
              <a:buNone/>
            </a:pPr>
            <a:r>
              <a:rPr lang="en-US" sz="1100" dirty="0">
                <a:solidFill>
                  <a:srgbClr val="6B6878"/>
                </a:solidFill>
                <a:latin typeface="Inter" pitchFamily="34" charset="0"/>
                <a:ea typeface="Inter" pitchFamily="34" charset="-122"/>
                <a:cs typeface="Inter" pitchFamily="34" charset="-120"/>
              </a:rPr>
              <a:t>Vibe Coding · 6th semester · final presentation</a:t>
            </a:r>
            <a:endParaRPr lang="en-US" sz="1100" dirty="0"/>
          </a:p>
        </p:txBody>
      </p:sp>
      <p:sp>
        <p:nvSpPr>
          <p:cNvPr id="19" name="Shape 17"/>
          <p:cNvSpPr/>
          <p:nvPr/>
        </p:nvSpPr>
        <p:spPr>
          <a:xfrm>
            <a:off x="9281160" y="6144768"/>
            <a:ext cx="2240280" cy="502920"/>
          </a:xfrm>
          <a:prstGeom prst="roundRect">
            <a:avLst>
              <a:gd name="adj" fmla="val 36364"/>
            </a:avLst>
          </a:prstGeom>
          <a:solidFill>
            <a:srgbClr val="5B2EFF"/>
          </a:solidFill>
          <a:ln w="22225">
            <a:solidFill>
              <a:srgbClr val="14121F"/>
            </a:solidFill>
            <a:prstDash val="solid"/>
          </a:ln>
          <a:effectLst>
            <a:outerShdw blurRad="101600" dist="50800" dir="2700000" algn="bl" rotWithShape="0">
              <a:srgbClr val="14121F">
                <a:alpha val="100000"/>
              </a:srgbClr>
            </a:outerShdw>
          </a:effectLst>
        </p:spPr>
        <p:txBody>
          <a:bodyPr/>
          <a:lstStyle/>
          <a:p>
            <a:endParaRPr lang="de-DE"/>
          </a:p>
        </p:txBody>
      </p:sp>
      <p:sp>
        <p:nvSpPr>
          <p:cNvPr id="20" name="Text 18"/>
          <p:cNvSpPr/>
          <p:nvPr/>
        </p:nvSpPr>
        <p:spPr>
          <a:xfrm>
            <a:off x="9281160" y="6144768"/>
            <a:ext cx="224028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Inter" pitchFamily="34" charset="0"/>
                <a:ea typeface="Inter" pitchFamily="34" charset="-122"/>
                <a:cs typeface="Inter" pitchFamily="34" charset="-120"/>
              </a:rPr>
              <a:t>Create System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640080" y="384048"/>
            <a:ext cx="3657600" cy="365760"/>
          </a:xfrm>
          <a:prstGeom prst="rect">
            <a:avLst/>
          </a:prstGeom>
          <a:noFill/>
          <a:ln/>
        </p:spPr>
        <p:txBody>
          <a:bodyPr wrap="square" lIns="0" tIns="0" rIns="0" bIns="0" rtlCol="0" anchor="ctr"/>
          <a:lstStyle/>
          <a:p>
            <a:pPr marL="0" indent="0" algn="l">
              <a:buNone/>
            </a:pPr>
            <a:r>
              <a:rPr lang="en-US" sz="1800" b="1" dirty="0">
                <a:solidFill>
                  <a:srgbClr val="14121F"/>
                </a:solidFill>
                <a:latin typeface="Space Grotesk" pitchFamily="34" charset="0"/>
                <a:ea typeface="Space Grotesk" pitchFamily="34" charset="-122"/>
                <a:cs typeface="Space Grotesk" pitchFamily="34" charset="-120"/>
              </a:rPr>
              <a:t>Style</a:t>
            </a:r>
            <a:r>
              <a:rPr lang="en-US" sz="1800" b="1" dirty="0">
                <a:solidFill>
                  <a:srgbClr val="5B2EFF"/>
                </a:solidFill>
                <a:latin typeface="Space Grotesk" pitchFamily="34" charset="0"/>
                <a:ea typeface="Space Grotesk" pitchFamily="34" charset="-122"/>
                <a:cs typeface="Space Grotesk" pitchFamily="34" charset="-120"/>
              </a:rPr>
              <a:t>Snap</a:t>
            </a:r>
            <a:endParaRPr lang="en-US" sz="1800" dirty="0"/>
          </a:p>
        </p:txBody>
      </p:sp>
      <p:sp>
        <p:nvSpPr>
          <p:cNvPr id="3" name="Text 1"/>
          <p:cNvSpPr/>
          <p:nvPr/>
        </p:nvSpPr>
        <p:spPr>
          <a:xfrm>
            <a:off x="10561320" y="420624"/>
            <a:ext cx="1005840" cy="292608"/>
          </a:xfrm>
          <a:prstGeom prst="rect">
            <a:avLst/>
          </a:prstGeom>
          <a:noFill/>
          <a:ln/>
        </p:spPr>
        <p:txBody>
          <a:bodyPr wrap="square" lIns="0" tIns="0" rIns="0" bIns="0" rtlCol="0" anchor="ctr"/>
          <a:lstStyle/>
          <a:p>
            <a:pPr marL="0" indent="0" algn="r">
              <a:buNone/>
            </a:pPr>
            <a:r>
              <a:rPr lang="en-US" sz="1000" dirty="0">
                <a:solidFill>
                  <a:srgbClr val="6B6878"/>
                </a:solidFill>
                <a:latin typeface="JetBrains Mono" pitchFamily="34" charset="0"/>
                <a:ea typeface="JetBrains Mono" pitchFamily="34" charset="-122"/>
                <a:cs typeface="JetBrains Mono" pitchFamily="34" charset="-120"/>
              </a:rPr>
              <a:t>02 / 08</a:t>
            </a:r>
            <a:endParaRPr lang="en-US" sz="1000" dirty="0"/>
          </a:p>
        </p:txBody>
      </p:sp>
      <p:sp>
        <p:nvSpPr>
          <p:cNvPr id="4" name="Text 2"/>
          <p:cNvSpPr/>
          <p:nvPr/>
        </p:nvSpPr>
        <p:spPr>
          <a:xfrm>
            <a:off x="621792" y="960120"/>
            <a:ext cx="10972800" cy="914400"/>
          </a:xfrm>
          <a:prstGeom prst="rect">
            <a:avLst/>
          </a:prstGeom>
          <a:noFill/>
          <a:ln/>
        </p:spPr>
        <p:txBody>
          <a:bodyPr wrap="square" lIns="0" tIns="0" rIns="0" bIns="0" rtlCol="0" anchor="ctr"/>
          <a:lstStyle/>
          <a:p>
            <a:pPr marL="0" indent="0" algn="l">
              <a:buNone/>
            </a:pPr>
            <a:r>
              <a:rPr lang="en-US" sz="5200" b="1" dirty="0">
                <a:solidFill>
                  <a:srgbClr val="14121F"/>
                </a:solidFill>
                <a:latin typeface="Space Grotesk" pitchFamily="34" charset="0"/>
                <a:ea typeface="Space Grotesk" pitchFamily="34" charset="-122"/>
                <a:cs typeface="Space Grotesk" pitchFamily="34" charset="-120"/>
              </a:rPr>
              <a:t>The problem</a:t>
            </a:r>
            <a:endParaRPr lang="en-US" sz="5200" dirty="0"/>
          </a:p>
        </p:txBody>
      </p:sp>
      <p:sp>
        <p:nvSpPr>
          <p:cNvPr id="5" name="Text 3"/>
          <p:cNvSpPr/>
          <p:nvPr/>
        </p:nvSpPr>
        <p:spPr>
          <a:xfrm>
            <a:off x="658368" y="1874520"/>
            <a:ext cx="10789920" cy="457200"/>
          </a:xfrm>
          <a:prstGeom prst="rect">
            <a:avLst/>
          </a:prstGeom>
          <a:noFill/>
          <a:ln/>
        </p:spPr>
        <p:txBody>
          <a:bodyPr wrap="square" lIns="0" tIns="0" rIns="0" bIns="0" rtlCol="0" anchor="ctr"/>
          <a:lstStyle/>
          <a:p>
            <a:pPr marL="0" indent="0" algn="l">
              <a:buNone/>
            </a:pPr>
            <a:r>
              <a:rPr lang="en-US" sz="1500" dirty="0">
                <a:solidFill>
                  <a:srgbClr val="6B6878"/>
                </a:solidFill>
                <a:latin typeface="Inter" pitchFamily="34" charset="0"/>
                <a:ea typeface="Inter" pitchFamily="34" charset="-122"/>
                <a:cs typeface="Inter" pitchFamily="34" charset="-120"/>
              </a:rPr>
              <a:t>Building a design system today is manual — tedious and inconsistent.</a:t>
            </a:r>
            <a:endParaRPr lang="en-US" sz="1500" dirty="0"/>
          </a:p>
        </p:txBody>
      </p:sp>
      <p:sp>
        <p:nvSpPr>
          <p:cNvPr id="6" name="Shape 4"/>
          <p:cNvSpPr/>
          <p:nvPr/>
        </p:nvSpPr>
        <p:spPr>
          <a:xfrm>
            <a:off x="640080" y="2514600"/>
            <a:ext cx="3456432" cy="2697480"/>
          </a:xfrm>
          <a:prstGeom prst="roundRect">
            <a:avLst>
              <a:gd name="adj" fmla="val 4746"/>
            </a:avLst>
          </a:prstGeom>
          <a:solidFill>
            <a:srgbClr val="FFFFFF"/>
          </a:solidFill>
          <a:ln w="28575">
            <a:solidFill>
              <a:srgbClr val="14121F"/>
            </a:solidFill>
            <a:prstDash val="solid"/>
          </a:ln>
          <a:effectLst>
            <a:outerShdw blurRad="101600" dist="76200" dir="2700000" algn="bl" rotWithShape="0">
              <a:srgbClr val="14121F">
                <a:alpha val="100000"/>
              </a:srgbClr>
            </a:outerShdw>
          </a:effectLst>
        </p:spPr>
        <p:txBody>
          <a:bodyPr/>
          <a:lstStyle/>
          <a:p>
            <a:endParaRPr lang="de-DE"/>
          </a:p>
        </p:txBody>
      </p:sp>
      <p:sp>
        <p:nvSpPr>
          <p:cNvPr id="7" name="Text 5"/>
          <p:cNvSpPr/>
          <p:nvPr/>
        </p:nvSpPr>
        <p:spPr>
          <a:xfrm>
            <a:off x="950976" y="2743200"/>
            <a:ext cx="1371600" cy="548640"/>
          </a:xfrm>
          <a:prstGeom prst="rect">
            <a:avLst/>
          </a:prstGeom>
          <a:noFill/>
          <a:ln/>
        </p:spPr>
        <p:txBody>
          <a:bodyPr wrap="square" lIns="0" tIns="0" rIns="0" bIns="0" rtlCol="0" anchor="ctr"/>
          <a:lstStyle/>
          <a:p>
            <a:pPr marL="0" indent="0" algn="l">
              <a:buNone/>
            </a:pPr>
            <a:r>
              <a:rPr lang="en-US" sz="2200" b="1" dirty="0">
                <a:solidFill>
                  <a:srgbClr val="5B2EFF"/>
                </a:solidFill>
                <a:latin typeface="JetBrains Mono" pitchFamily="34" charset="0"/>
                <a:ea typeface="JetBrains Mono" pitchFamily="34" charset="-122"/>
                <a:cs typeface="JetBrains Mono" pitchFamily="34" charset="-120"/>
              </a:rPr>
              <a:t>01</a:t>
            </a:r>
            <a:endParaRPr lang="en-US" sz="2200" dirty="0"/>
          </a:p>
        </p:txBody>
      </p:sp>
      <p:sp>
        <p:nvSpPr>
          <p:cNvPr id="8" name="Text 6"/>
          <p:cNvSpPr/>
          <p:nvPr/>
        </p:nvSpPr>
        <p:spPr>
          <a:xfrm>
            <a:off x="950976" y="3310128"/>
            <a:ext cx="2880360" cy="685800"/>
          </a:xfrm>
          <a:prstGeom prst="rect">
            <a:avLst/>
          </a:prstGeom>
          <a:noFill/>
          <a:ln/>
        </p:spPr>
        <p:txBody>
          <a:bodyPr wrap="square" lIns="0" tIns="0" rIns="0" bIns="0" rtlCol="0" anchor="ctr"/>
          <a:lstStyle/>
          <a:p>
            <a:pPr marL="0" indent="0" algn="l">
              <a:buNone/>
            </a:pPr>
            <a:r>
              <a:rPr lang="en-US" sz="1900" b="1" dirty="0">
                <a:solidFill>
                  <a:srgbClr val="14121F"/>
                </a:solidFill>
                <a:latin typeface="Space Grotesk" pitchFamily="34" charset="0"/>
                <a:ea typeface="Space Grotesk" pitchFamily="34" charset="-122"/>
                <a:cs typeface="Space Grotesk" pitchFamily="34" charset="-120"/>
              </a:rPr>
              <a:t>Tokens rebuilt by hand</a:t>
            </a:r>
            <a:endParaRPr lang="en-US" sz="1900" dirty="0"/>
          </a:p>
        </p:txBody>
      </p:sp>
      <p:sp>
        <p:nvSpPr>
          <p:cNvPr id="9" name="Text 7"/>
          <p:cNvSpPr/>
          <p:nvPr/>
        </p:nvSpPr>
        <p:spPr>
          <a:xfrm>
            <a:off x="950976" y="4023360"/>
            <a:ext cx="2880360" cy="1005840"/>
          </a:xfrm>
          <a:prstGeom prst="rect">
            <a:avLst/>
          </a:prstGeom>
          <a:noFill/>
          <a:ln/>
        </p:spPr>
        <p:txBody>
          <a:bodyPr wrap="square" lIns="0" tIns="0" rIns="0" bIns="0" rtlCol="0" anchor="ctr"/>
          <a:lstStyle/>
          <a:p>
            <a:pPr marL="0" indent="0" algn="l">
              <a:lnSpc>
                <a:spcPct val="118000"/>
              </a:lnSpc>
              <a:buNone/>
            </a:pPr>
            <a:r>
              <a:rPr lang="en-US" sz="1250" dirty="0">
                <a:solidFill>
                  <a:srgbClr val="6B6878"/>
                </a:solidFill>
                <a:latin typeface="Inter" pitchFamily="34" charset="0"/>
                <a:ea typeface="Inter" pitchFamily="34" charset="-122"/>
                <a:cs typeface="Inter" pitchFamily="34" charset="-120"/>
              </a:rPr>
              <a:t>Colors, spacing and font sizes are copied out of finished designs into spreadsheets or token tools, value by value.</a:t>
            </a:r>
            <a:endParaRPr lang="en-US" sz="1250" dirty="0"/>
          </a:p>
        </p:txBody>
      </p:sp>
      <p:sp>
        <p:nvSpPr>
          <p:cNvPr id="10" name="Shape 8"/>
          <p:cNvSpPr/>
          <p:nvPr/>
        </p:nvSpPr>
        <p:spPr>
          <a:xfrm>
            <a:off x="4370832" y="2514600"/>
            <a:ext cx="3456432" cy="2697480"/>
          </a:xfrm>
          <a:prstGeom prst="roundRect">
            <a:avLst>
              <a:gd name="adj" fmla="val 4746"/>
            </a:avLst>
          </a:prstGeom>
          <a:solidFill>
            <a:srgbClr val="FFFFFF"/>
          </a:solidFill>
          <a:ln w="28575">
            <a:solidFill>
              <a:srgbClr val="14121F"/>
            </a:solidFill>
            <a:prstDash val="solid"/>
          </a:ln>
          <a:effectLst>
            <a:outerShdw blurRad="101600" dist="76200" dir="2700000" algn="bl" rotWithShape="0">
              <a:srgbClr val="14121F">
                <a:alpha val="100000"/>
              </a:srgbClr>
            </a:outerShdw>
          </a:effectLst>
        </p:spPr>
        <p:txBody>
          <a:bodyPr/>
          <a:lstStyle/>
          <a:p>
            <a:endParaRPr lang="de-DE"/>
          </a:p>
        </p:txBody>
      </p:sp>
      <p:sp>
        <p:nvSpPr>
          <p:cNvPr id="11" name="Text 9"/>
          <p:cNvSpPr/>
          <p:nvPr/>
        </p:nvSpPr>
        <p:spPr>
          <a:xfrm>
            <a:off x="4681728" y="2743200"/>
            <a:ext cx="1371600" cy="548640"/>
          </a:xfrm>
          <a:prstGeom prst="rect">
            <a:avLst/>
          </a:prstGeom>
          <a:noFill/>
          <a:ln/>
        </p:spPr>
        <p:txBody>
          <a:bodyPr wrap="square" lIns="0" tIns="0" rIns="0" bIns="0" rtlCol="0" anchor="ctr"/>
          <a:lstStyle/>
          <a:p>
            <a:pPr marL="0" indent="0" algn="l">
              <a:buNone/>
            </a:pPr>
            <a:r>
              <a:rPr lang="en-US" sz="2200" b="1" dirty="0">
                <a:solidFill>
                  <a:srgbClr val="5B2EFF"/>
                </a:solidFill>
                <a:latin typeface="JetBrains Mono" pitchFamily="34" charset="0"/>
                <a:ea typeface="JetBrains Mono" pitchFamily="34" charset="-122"/>
                <a:cs typeface="JetBrains Mono" pitchFamily="34" charset="-120"/>
              </a:rPr>
              <a:t>02</a:t>
            </a:r>
            <a:endParaRPr lang="en-US" sz="2200" dirty="0"/>
          </a:p>
        </p:txBody>
      </p:sp>
      <p:sp>
        <p:nvSpPr>
          <p:cNvPr id="12" name="Text 10"/>
          <p:cNvSpPr/>
          <p:nvPr/>
        </p:nvSpPr>
        <p:spPr>
          <a:xfrm>
            <a:off x="4681728" y="3310128"/>
            <a:ext cx="2880360" cy="685800"/>
          </a:xfrm>
          <a:prstGeom prst="rect">
            <a:avLst/>
          </a:prstGeom>
          <a:noFill/>
          <a:ln/>
        </p:spPr>
        <p:txBody>
          <a:bodyPr wrap="square" lIns="0" tIns="0" rIns="0" bIns="0" rtlCol="0" anchor="ctr"/>
          <a:lstStyle/>
          <a:p>
            <a:pPr marL="0" indent="0" algn="l">
              <a:buNone/>
            </a:pPr>
            <a:r>
              <a:rPr lang="en-US" sz="1900" b="1" dirty="0">
                <a:solidFill>
                  <a:srgbClr val="14121F"/>
                </a:solidFill>
                <a:latin typeface="Space Grotesk" pitchFamily="34" charset="0"/>
                <a:ea typeface="Space Grotesk" pitchFamily="34" charset="-122"/>
                <a:cs typeface="Space Grotesk" pitchFamily="34" charset="-120"/>
              </a:rPr>
              <a:t>No path from design to tokens</a:t>
            </a:r>
            <a:endParaRPr lang="en-US" sz="1900" dirty="0"/>
          </a:p>
        </p:txBody>
      </p:sp>
      <p:sp>
        <p:nvSpPr>
          <p:cNvPr id="13" name="Text 11"/>
          <p:cNvSpPr/>
          <p:nvPr/>
        </p:nvSpPr>
        <p:spPr>
          <a:xfrm>
            <a:off x="4681728" y="4023360"/>
            <a:ext cx="2880360" cy="1005840"/>
          </a:xfrm>
          <a:prstGeom prst="rect">
            <a:avLst/>
          </a:prstGeom>
          <a:noFill/>
          <a:ln/>
        </p:spPr>
        <p:txBody>
          <a:bodyPr wrap="square" lIns="0" tIns="0" rIns="0" bIns="0" rtlCol="0" anchor="ctr"/>
          <a:lstStyle/>
          <a:p>
            <a:pPr marL="0" indent="0" algn="l">
              <a:lnSpc>
                <a:spcPct val="118000"/>
              </a:lnSpc>
              <a:buNone/>
            </a:pPr>
            <a:r>
              <a:rPr lang="en-US" sz="1250" dirty="0">
                <a:solidFill>
                  <a:srgbClr val="6B6878"/>
                </a:solidFill>
                <a:latin typeface="Inter" pitchFamily="34" charset="0"/>
                <a:ea typeface="Inter" pitchFamily="34" charset="-122"/>
                <a:cs typeface="Inter" pitchFamily="34" charset="-120"/>
              </a:rPr>
              <a:t>Neither Figma nor the browser offers a structured export of design tokens into a machine-readable format.</a:t>
            </a:r>
            <a:endParaRPr lang="en-US" sz="1250" dirty="0"/>
          </a:p>
        </p:txBody>
      </p:sp>
      <p:sp>
        <p:nvSpPr>
          <p:cNvPr id="14" name="Shape 12"/>
          <p:cNvSpPr/>
          <p:nvPr/>
        </p:nvSpPr>
        <p:spPr>
          <a:xfrm>
            <a:off x="8101584" y="2514600"/>
            <a:ext cx="3456432" cy="2697480"/>
          </a:xfrm>
          <a:prstGeom prst="roundRect">
            <a:avLst>
              <a:gd name="adj" fmla="val 4746"/>
            </a:avLst>
          </a:prstGeom>
          <a:solidFill>
            <a:srgbClr val="FFFFFF"/>
          </a:solidFill>
          <a:ln w="28575">
            <a:solidFill>
              <a:srgbClr val="14121F"/>
            </a:solidFill>
            <a:prstDash val="solid"/>
          </a:ln>
          <a:effectLst>
            <a:outerShdw blurRad="101600" dist="76200" dir="2700000" algn="bl" rotWithShape="0">
              <a:srgbClr val="14121F">
                <a:alpha val="100000"/>
              </a:srgbClr>
            </a:outerShdw>
          </a:effectLst>
        </p:spPr>
        <p:txBody>
          <a:bodyPr/>
          <a:lstStyle/>
          <a:p>
            <a:endParaRPr lang="de-DE"/>
          </a:p>
        </p:txBody>
      </p:sp>
      <p:sp>
        <p:nvSpPr>
          <p:cNvPr id="15" name="Text 13"/>
          <p:cNvSpPr/>
          <p:nvPr/>
        </p:nvSpPr>
        <p:spPr>
          <a:xfrm>
            <a:off x="8412480" y="2743200"/>
            <a:ext cx="1371600" cy="548640"/>
          </a:xfrm>
          <a:prstGeom prst="rect">
            <a:avLst/>
          </a:prstGeom>
          <a:noFill/>
          <a:ln/>
        </p:spPr>
        <p:txBody>
          <a:bodyPr wrap="square" lIns="0" tIns="0" rIns="0" bIns="0" rtlCol="0" anchor="ctr"/>
          <a:lstStyle/>
          <a:p>
            <a:pPr marL="0" indent="0" algn="l">
              <a:buNone/>
            </a:pPr>
            <a:r>
              <a:rPr lang="en-US" sz="2200" b="1" dirty="0">
                <a:solidFill>
                  <a:srgbClr val="5B2EFF"/>
                </a:solidFill>
                <a:latin typeface="JetBrains Mono" pitchFamily="34" charset="0"/>
                <a:ea typeface="JetBrains Mono" pitchFamily="34" charset="-122"/>
                <a:cs typeface="JetBrains Mono" pitchFamily="34" charset="-120"/>
              </a:rPr>
              <a:t>03</a:t>
            </a:r>
            <a:endParaRPr lang="en-US" sz="2200" dirty="0"/>
          </a:p>
        </p:txBody>
      </p:sp>
      <p:sp>
        <p:nvSpPr>
          <p:cNvPr id="16" name="Text 14"/>
          <p:cNvSpPr/>
          <p:nvPr/>
        </p:nvSpPr>
        <p:spPr>
          <a:xfrm>
            <a:off x="8412480" y="3310128"/>
            <a:ext cx="2880360" cy="685800"/>
          </a:xfrm>
          <a:prstGeom prst="rect">
            <a:avLst/>
          </a:prstGeom>
          <a:noFill/>
          <a:ln/>
        </p:spPr>
        <p:txBody>
          <a:bodyPr wrap="square" lIns="0" tIns="0" rIns="0" bIns="0" rtlCol="0" anchor="ctr"/>
          <a:lstStyle/>
          <a:p>
            <a:pPr marL="0" indent="0" algn="l">
              <a:buNone/>
            </a:pPr>
            <a:r>
              <a:rPr lang="en-US" sz="1900" b="1" dirty="0">
                <a:solidFill>
                  <a:srgbClr val="14121F"/>
                </a:solidFill>
                <a:latin typeface="Space Grotesk" pitchFamily="34" charset="0"/>
                <a:ea typeface="Space Grotesk" pitchFamily="34" charset="-122"/>
                <a:cs typeface="Space Grotesk" pitchFamily="34" charset="-120"/>
              </a:rPr>
              <a:t>Handoff is inconsistent</a:t>
            </a:r>
            <a:endParaRPr lang="en-US" sz="1900" dirty="0"/>
          </a:p>
        </p:txBody>
      </p:sp>
      <p:sp>
        <p:nvSpPr>
          <p:cNvPr id="17" name="Text 15"/>
          <p:cNvSpPr/>
          <p:nvPr/>
        </p:nvSpPr>
        <p:spPr>
          <a:xfrm>
            <a:off x="8412480" y="4023360"/>
            <a:ext cx="2880360" cy="1005840"/>
          </a:xfrm>
          <a:prstGeom prst="rect">
            <a:avLst/>
          </a:prstGeom>
          <a:noFill/>
          <a:ln/>
        </p:spPr>
        <p:txBody>
          <a:bodyPr wrap="square" lIns="0" tIns="0" rIns="0" bIns="0" rtlCol="0" anchor="ctr"/>
          <a:lstStyle/>
          <a:p>
            <a:pPr marL="0" indent="0" algn="l">
              <a:lnSpc>
                <a:spcPct val="118000"/>
              </a:lnSpc>
              <a:buNone/>
            </a:pPr>
            <a:r>
              <a:rPr lang="en-US" sz="1250" dirty="0">
                <a:solidFill>
                  <a:srgbClr val="6B6878"/>
                </a:solidFill>
                <a:latin typeface="Inter" pitchFamily="34" charset="0"/>
                <a:ea typeface="Inter" pitchFamily="34" charset="-122"/>
                <a:cs typeface="Inter" pitchFamily="34" charset="-120"/>
              </a:rPr>
              <a:t>The handoff to developers and AI coding tools is manual — everyone does it differently, nothing is the source of truth.</a:t>
            </a:r>
            <a:endParaRPr lang="en-US" sz="1250" dirty="0"/>
          </a:p>
        </p:txBody>
      </p:sp>
      <p:sp>
        <p:nvSpPr>
          <p:cNvPr id="18" name="Text 16"/>
          <p:cNvSpPr/>
          <p:nvPr/>
        </p:nvSpPr>
        <p:spPr>
          <a:xfrm>
            <a:off x="640080" y="5623560"/>
            <a:ext cx="7680960" cy="457200"/>
          </a:xfrm>
          <a:prstGeom prst="rect">
            <a:avLst/>
          </a:prstGeom>
          <a:noFill/>
          <a:ln/>
        </p:spPr>
        <p:txBody>
          <a:bodyPr wrap="square" lIns="0" tIns="0" rIns="0" bIns="0" rtlCol="0" anchor="ctr"/>
          <a:lstStyle/>
          <a:p>
            <a:pPr marL="0" indent="0" algn="l">
              <a:buNone/>
            </a:pPr>
            <a:r>
              <a:rPr lang="en-US" sz="1250" i="1" dirty="0">
                <a:solidFill>
                  <a:srgbClr val="14121F"/>
                </a:solidFill>
                <a:latin typeface="Inter" pitchFamily="34" charset="0"/>
                <a:ea typeface="Inter" pitchFamily="34" charset="-122"/>
                <a:cs typeface="Inter" pitchFamily="34" charset="-120"/>
              </a:rPr>
              <a:t>The typical mess:  four near-identical blues that should really be ONE token →</a:t>
            </a:r>
            <a:endParaRPr lang="en-US" sz="1250" dirty="0"/>
          </a:p>
        </p:txBody>
      </p:sp>
      <p:sp>
        <p:nvSpPr>
          <p:cNvPr id="19" name="Shape 17"/>
          <p:cNvSpPr/>
          <p:nvPr/>
        </p:nvSpPr>
        <p:spPr>
          <a:xfrm>
            <a:off x="8412480" y="5596128"/>
            <a:ext cx="493776" cy="493776"/>
          </a:xfrm>
          <a:prstGeom prst="roundRect">
            <a:avLst>
              <a:gd name="adj" fmla="val 16667"/>
            </a:avLst>
          </a:prstGeom>
          <a:solidFill>
            <a:srgbClr val="2E6BFF"/>
          </a:solidFill>
          <a:ln w="22225">
            <a:solidFill>
              <a:srgbClr val="14121F"/>
            </a:solidFill>
            <a:prstDash val="solid"/>
          </a:ln>
          <a:effectLst>
            <a:outerShdw blurRad="101600" dist="31750" dir="2700000" algn="bl" rotWithShape="0">
              <a:srgbClr val="14121F">
                <a:alpha val="100000"/>
              </a:srgbClr>
            </a:outerShdw>
          </a:effectLst>
        </p:spPr>
        <p:txBody>
          <a:bodyPr/>
          <a:lstStyle/>
          <a:p>
            <a:endParaRPr lang="de-DE"/>
          </a:p>
        </p:txBody>
      </p:sp>
      <p:sp>
        <p:nvSpPr>
          <p:cNvPr id="20" name="Shape 18"/>
          <p:cNvSpPr/>
          <p:nvPr/>
        </p:nvSpPr>
        <p:spPr>
          <a:xfrm>
            <a:off x="9015984" y="5596128"/>
            <a:ext cx="493776" cy="493776"/>
          </a:xfrm>
          <a:prstGeom prst="roundRect">
            <a:avLst>
              <a:gd name="adj" fmla="val 16667"/>
            </a:avLst>
          </a:prstGeom>
          <a:solidFill>
            <a:srgbClr val="2E6CFF"/>
          </a:solidFill>
          <a:ln w="22225">
            <a:solidFill>
              <a:srgbClr val="14121F"/>
            </a:solidFill>
            <a:prstDash val="solid"/>
          </a:ln>
          <a:effectLst>
            <a:outerShdw blurRad="101600" dist="31750" dir="2700000" algn="bl" rotWithShape="0">
              <a:srgbClr val="14121F">
                <a:alpha val="100000"/>
              </a:srgbClr>
            </a:outerShdw>
          </a:effectLst>
        </p:spPr>
        <p:txBody>
          <a:bodyPr/>
          <a:lstStyle/>
          <a:p>
            <a:endParaRPr lang="de-DE"/>
          </a:p>
        </p:txBody>
      </p:sp>
      <p:sp>
        <p:nvSpPr>
          <p:cNvPr id="21" name="Shape 19"/>
          <p:cNvSpPr/>
          <p:nvPr/>
        </p:nvSpPr>
        <p:spPr>
          <a:xfrm>
            <a:off x="9619488" y="5596128"/>
            <a:ext cx="493776" cy="493776"/>
          </a:xfrm>
          <a:prstGeom prst="roundRect">
            <a:avLst>
              <a:gd name="adj" fmla="val 16667"/>
            </a:avLst>
          </a:prstGeom>
          <a:solidFill>
            <a:srgbClr val="2F6BFE"/>
          </a:solidFill>
          <a:ln w="22225">
            <a:solidFill>
              <a:srgbClr val="14121F"/>
            </a:solidFill>
            <a:prstDash val="solid"/>
          </a:ln>
          <a:effectLst>
            <a:outerShdw blurRad="101600" dist="31750" dir="2700000" algn="bl" rotWithShape="0">
              <a:srgbClr val="14121F">
                <a:alpha val="100000"/>
              </a:srgbClr>
            </a:outerShdw>
          </a:effectLst>
        </p:spPr>
        <p:txBody>
          <a:bodyPr/>
          <a:lstStyle/>
          <a:p>
            <a:endParaRPr lang="de-DE"/>
          </a:p>
        </p:txBody>
      </p:sp>
      <p:sp>
        <p:nvSpPr>
          <p:cNvPr id="22" name="Shape 20"/>
          <p:cNvSpPr/>
          <p:nvPr/>
        </p:nvSpPr>
        <p:spPr>
          <a:xfrm>
            <a:off x="10222992" y="5596128"/>
            <a:ext cx="493776" cy="493776"/>
          </a:xfrm>
          <a:prstGeom prst="roundRect">
            <a:avLst>
              <a:gd name="adj" fmla="val 16667"/>
            </a:avLst>
          </a:prstGeom>
          <a:solidFill>
            <a:srgbClr val="3067FF"/>
          </a:solidFill>
          <a:ln w="22225">
            <a:solidFill>
              <a:srgbClr val="14121F"/>
            </a:solidFill>
            <a:prstDash val="solid"/>
          </a:ln>
          <a:effectLst>
            <a:outerShdw blurRad="101600" dist="31750" dir="2700000" algn="bl" rotWithShape="0">
              <a:srgbClr val="14121F">
                <a:alpha val="100000"/>
              </a:srgbClr>
            </a:outerShdw>
          </a:effectLst>
        </p:spPr>
        <p:txBody>
          <a:bodyPr/>
          <a:lstStyle/>
          <a:p>
            <a:endParaRPr lang="de-D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640080" y="384048"/>
            <a:ext cx="3657600" cy="365760"/>
          </a:xfrm>
          <a:prstGeom prst="rect">
            <a:avLst/>
          </a:prstGeom>
          <a:noFill/>
          <a:ln/>
        </p:spPr>
        <p:txBody>
          <a:bodyPr wrap="square" lIns="0" tIns="0" rIns="0" bIns="0" rtlCol="0" anchor="ctr"/>
          <a:lstStyle/>
          <a:p>
            <a:pPr marL="0" indent="0" algn="l">
              <a:buNone/>
            </a:pPr>
            <a:r>
              <a:rPr lang="en-US" sz="1800" b="1" dirty="0">
                <a:solidFill>
                  <a:srgbClr val="14121F"/>
                </a:solidFill>
                <a:latin typeface="Space Grotesk" pitchFamily="34" charset="0"/>
                <a:ea typeface="Space Grotesk" pitchFamily="34" charset="-122"/>
                <a:cs typeface="Space Grotesk" pitchFamily="34" charset="-120"/>
              </a:rPr>
              <a:t>Style</a:t>
            </a:r>
            <a:r>
              <a:rPr lang="en-US" sz="1800" b="1" dirty="0">
                <a:solidFill>
                  <a:srgbClr val="5B2EFF"/>
                </a:solidFill>
                <a:latin typeface="Space Grotesk" pitchFamily="34" charset="0"/>
                <a:ea typeface="Space Grotesk" pitchFamily="34" charset="-122"/>
                <a:cs typeface="Space Grotesk" pitchFamily="34" charset="-120"/>
              </a:rPr>
              <a:t>Snap</a:t>
            </a:r>
            <a:endParaRPr lang="en-US" sz="1800" dirty="0"/>
          </a:p>
        </p:txBody>
      </p:sp>
      <p:sp>
        <p:nvSpPr>
          <p:cNvPr id="3" name="Text 1"/>
          <p:cNvSpPr/>
          <p:nvPr/>
        </p:nvSpPr>
        <p:spPr>
          <a:xfrm>
            <a:off x="10561320" y="420624"/>
            <a:ext cx="1005840" cy="292608"/>
          </a:xfrm>
          <a:prstGeom prst="rect">
            <a:avLst/>
          </a:prstGeom>
          <a:noFill/>
          <a:ln/>
        </p:spPr>
        <p:txBody>
          <a:bodyPr wrap="square" lIns="0" tIns="0" rIns="0" bIns="0" rtlCol="0" anchor="ctr"/>
          <a:lstStyle/>
          <a:p>
            <a:pPr marL="0" indent="0" algn="r">
              <a:buNone/>
            </a:pPr>
            <a:r>
              <a:rPr lang="en-US" sz="1000" dirty="0">
                <a:solidFill>
                  <a:srgbClr val="6B6878"/>
                </a:solidFill>
                <a:latin typeface="JetBrains Mono" pitchFamily="34" charset="0"/>
                <a:ea typeface="JetBrains Mono" pitchFamily="34" charset="-122"/>
                <a:cs typeface="JetBrains Mono" pitchFamily="34" charset="-120"/>
              </a:rPr>
              <a:t>03 / 08</a:t>
            </a:r>
            <a:endParaRPr lang="en-US" sz="1000" dirty="0"/>
          </a:p>
        </p:txBody>
      </p:sp>
      <p:sp>
        <p:nvSpPr>
          <p:cNvPr id="4" name="Text 2"/>
          <p:cNvSpPr/>
          <p:nvPr/>
        </p:nvSpPr>
        <p:spPr>
          <a:xfrm>
            <a:off x="621792" y="960120"/>
            <a:ext cx="10972800" cy="914400"/>
          </a:xfrm>
          <a:prstGeom prst="rect">
            <a:avLst/>
          </a:prstGeom>
          <a:noFill/>
          <a:ln/>
        </p:spPr>
        <p:txBody>
          <a:bodyPr wrap="square" lIns="0" tIns="0" rIns="0" bIns="0" rtlCol="0" anchor="ctr"/>
          <a:lstStyle/>
          <a:p>
            <a:pPr marL="0" indent="0" algn="l">
              <a:buNone/>
            </a:pPr>
            <a:r>
              <a:rPr lang="en-US" sz="5200" b="1" dirty="0">
                <a:solidFill>
                  <a:srgbClr val="14121F"/>
                </a:solidFill>
                <a:latin typeface="Space Grotesk" pitchFamily="34" charset="0"/>
                <a:ea typeface="Space Grotesk" pitchFamily="34" charset="-122"/>
                <a:cs typeface="Space Grotesk" pitchFamily="34" charset="-120"/>
              </a:rPr>
              <a:t>Who it's for</a:t>
            </a:r>
            <a:endParaRPr lang="en-US" sz="5200" dirty="0"/>
          </a:p>
        </p:txBody>
      </p:sp>
      <p:sp>
        <p:nvSpPr>
          <p:cNvPr id="5" name="Shape 3"/>
          <p:cNvSpPr/>
          <p:nvPr/>
        </p:nvSpPr>
        <p:spPr>
          <a:xfrm>
            <a:off x="640080" y="2148840"/>
            <a:ext cx="5303520" cy="2286000"/>
          </a:xfrm>
          <a:prstGeom prst="roundRect">
            <a:avLst>
              <a:gd name="adj" fmla="val 5600"/>
            </a:avLst>
          </a:prstGeom>
          <a:solidFill>
            <a:srgbClr val="FFFFFF"/>
          </a:solidFill>
          <a:ln w="28575">
            <a:solidFill>
              <a:srgbClr val="14121F"/>
            </a:solidFill>
            <a:prstDash val="solid"/>
          </a:ln>
          <a:effectLst>
            <a:outerShdw blurRad="101600" dist="76200" dir="2700000" algn="bl" rotWithShape="0">
              <a:srgbClr val="14121F">
                <a:alpha val="100000"/>
              </a:srgbClr>
            </a:outerShdw>
          </a:effectLst>
        </p:spPr>
        <p:txBody>
          <a:bodyPr/>
          <a:lstStyle/>
          <a:p>
            <a:endParaRPr lang="de-DE"/>
          </a:p>
        </p:txBody>
      </p:sp>
      <p:sp>
        <p:nvSpPr>
          <p:cNvPr id="6" name="Shape 4"/>
          <p:cNvSpPr/>
          <p:nvPr/>
        </p:nvSpPr>
        <p:spPr>
          <a:xfrm>
            <a:off x="1005840" y="2468880"/>
            <a:ext cx="502920" cy="502920"/>
          </a:xfrm>
          <a:prstGeom prst="roundRect">
            <a:avLst>
              <a:gd name="adj" fmla="val 21818"/>
            </a:avLst>
          </a:prstGeom>
          <a:solidFill>
            <a:srgbClr val="D8E8BE"/>
          </a:solidFill>
          <a:ln w="22225">
            <a:solidFill>
              <a:srgbClr val="14121F"/>
            </a:solidFill>
            <a:prstDash val="solid"/>
          </a:ln>
        </p:spPr>
        <p:txBody>
          <a:bodyPr/>
          <a:lstStyle/>
          <a:p>
            <a:endParaRPr lang="de-DE"/>
          </a:p>
        </p:txBody>
      </p:sp>
      <p:sp>
        <p:nvSpPr>
          <p:cNvPr id="7" name="Text 5"/>
          <p:cNvSpPr/>
          <p:nvPr/>
        </p:nvSpPr>
        <p:spPr>
          <a:xfrm>
            <a:off x="1691640" y="2432304"/>
            <a:ext cx="4023360" cy="548640"/>
          </a:xfrm>
          <a:prstGeom prst="rect">
            <a:avLst/>
          </a:prstGeom>
          <a:noFill/>
          <a:ln/>
        </p:spPr>
        <p:txBody>
          <a:bodyPr wrap="square" lIns="0" tIns="0" rIns="0" bIns="0" rtlCol="0" anchor="ctr"/>
          <a:lstStyle/>
          <a:p>
            <a:pPr marL="0" indent="0" algn="l">
              <a:buNone/>
            </a:pPr>
            <a:r>
              <a:rPr lang="en-US" sz="2200" b="1" dirty="0">
                <a:solidFill>
                  <a:srgbClr val="14121F"/>
                </a:solidFill>
                <a:latin typeface="Space Grotesk" pitchFamily="34" charset="0"/>
                <a:ea typeface="Space Grotesk" pitchFamily="34" charset="-122"/>
                <a:cs typeface="Space Grotesk" pitchFamily="34" charset="-120"/>
              </a:rPr>
              <a:t>UX / UI designers</a:t>
            </a:r>
            <a:endParaRPr lang="en-US" sz="2200" dirty="0"/>
          </a:p>
        </p:txBody>
      </p:sp>
      <p:sp>
        <p:nvSpPr>
          <p:cNvPr id="8" name="Text 6"/>
          <p:cNvSpPr/>
          <p:nvPr/>
        </p:nvSpPr>
        <p:spPr>
          <a:xfrm>
            <a:off x="1005840" y="3200400"/>
            <a:ext cx="4617720" cy="1097280"/>
          </a:xfrm>
          <a:prstGeom prst="rect">
            <a:avLst/>
          </a:prstGeom>
          <a:noFill/>
          <a:ln/>
        </p:spPr>
        <p:txBody>
          <a:bodyPr wrap="square" lIns="0" tIns="0" rIns="0" bIns="0" rtlCol="0" anchor="ctr"/>
          <a:lstStyle/>
          <a:p>
            <a:pPr marL="0" indent="0" algn="l">
              <a:lnSpc>
                <a:spcPct val="125000"/>
              </a:lnSpc>
              <a:buNone/>
            </a:pPr>
            <a:r>
              <a:rPr lang="en-US" sz="1400" dirty="0">
                <a:solidFill>
                  <a:srgbClr val="6B6878"/>
                </a:solidFill>
                <a:latin typeface="Inter" pitchFamily="34" charset="0"/>
                <a:ea typeface="Inter" pitchFamily="34" charset="-122"/>
                <a:cs typeface="Inter" pitchFamily="34" charset="-120"/>
              </a:rPr>
              <a:t>…who want to derive a clean design system from a finished product design — without retyping every value by hand.</a:t>
            </a:r>
            <a:endParaRPr lang="en-US" sz="1400" dirty="0"/>
          </a:p>
        </p:txBody>
      </p:sp>
      <p:sp>
        <p:nvSpPr>
          <p:cNvPr id="9" name="Shape 7"/>
          <p:cNvSpPr/>
          <p:nvPr/>
        </p:nvSpPr>
        <p:spPr>
          <a:xfrm>
            <a:off x="6217920" y="2148840"/>
            <a:ext cx="5303520" cy="2286000"/>
          </a:xfrm>
          <a:prstGeom prst="roundRect">
            <a:avLst>
              <a:gd name="adj" fmla="val 5600"/>
            </a:avLst>
          </a:prstGeom>
          <a:solidFill>
            <a:srgbClr val="FFFFFF"/>
          </a:solidFill>
          <a:ln w="28575">
            <a:solidFill>
              <a:srgbClr val="14121F"/>
            </a:solidFill>
            <a:prstDash val="solid"/>
          </a:ln>
          <a:effectLst>
            <a:outerShdw blurRad="101600" dist="76200" dir="2700000" algn="bl" rotWithShape="0">
              <a:srgbClr val="14121F">
                <a:alpha val="100000"/>
              </a:srgbClr>
            </a:outerShdw>
          </a:effectLst>
        </p:spPr>
        <p:txBody>
          <a:bodyPr/>
          <a:lstStyle/>
          <a:p>
            <a:endParaRPr lang="de-DE"/>
          </a:p>
        </p:txBody>
      </p:sp>
      <p:sp>
        <p:nvSpPr>
          <p:cNvPr id="10" name="Shape 8"/>
          <p:cNvSpPr/>
          <p:nvPr/>
        </p:nvSpPr>
        <p:spPr>
          <a:xfrm>
            <a:off x="6583680" y="2468880"/>
            <a:ext cx="502920" cy="502920"/>
          </a:xfrm>
          <a:prstGeom prst="roundRect">
            <a:avLst>
              <a:gd name="adj" fmla="val 21818"/>
            </a:avLst>
          </a:prstGeom>
          <a:solidFill>
            <a:srgbClr val="B9B1EA"/>
          </a:solidFill>
          <a:ln w="22225">
            <a:solidFill>
              <a:srgbClr val="14121F"/>
            </a:solidFill>
            <a:prstDash val="solid"/>
          </a:ln>
        </p:spPr>
        <p:txBody>
          <a:bodyPr/>
          <a:lstStyle/>
          <a:p>
            <a:endParaRPr lang="de-DE"/>
          </a:p>
        </p:txBody>
      </p:sp>
      <p:sp>
        <p:nvSpPr>
          <p:cNvPr id="11" name="Text 9"/>
          <p:cNvSpPr/>
          <p:nvPr/>
        </p:nvSpPr>
        <p:spPr>
          <a:xfrm>
            <a:off x="7269480" y="2432304"/>
            <a:ext cx="4023360" cy="548640"/>
          </a:xfrm>
          <a:prstGeom prst="rect">
            <a:avLst/>
          </a:prstGeom>
          <a:noFill/>
          <a:ln/>
        </p:spPr>
        <p:txBody>
          <a:bodyPr wrap="square" lIns="0" tIns="0" rIns="0" bIns="0" rtlCol="0" anchor="ctr"/>
          <a:lstStyle/>
          <a:p>
            <a:pPr marL="0" indent="0" algn="l">
              <a:buNone/>
            </a:pPr>
            <a:r>
              <a:rPr lang="en-US" sz="2200" b="1" dirty="0">
                <a:solidFill>
                  <a:srgbClr val="14121F"/>
                </a:solidFill>
                <a:latin typeface="Space Grotesk" pitchFamily="34" charset="0"/>
                <a:ea typeface="Space Grotesk" pitchFamily="34" charset="-122"/>
                <a:cs typeface="Space Grotesk" pitchFamily="34" charset="-120"/>
              </a:rPr>
              <a:t>Small teams &amp; students</a:t>
            </a:r>
            <a:endParaRPr lang="en-US" sz="2200" dirty="0"/>
          </a:p>
        </p:txBody>
      </p:sp>
      <p:sp>
        <p:nvSpPr>
          <p:cNvPr id="12" name="Text 10"/>
          <p:cNvSpPr/>
          <p:nvPr/>
        </p:nvSpPr>
        <p:spPr>
          <a:xfrm>
            <a:off x="6583680" y="3200400"/>
            <a:ext cx="4617720" cy="1097280"/>
          </a:xfrm>
          <a:prstGeom prst="rect">
            <a:avLst/>
          </a:prstGeom>
          <a:noFill/>
          <a:ln/>
        </p:spPr>
        <p:txBody>
          <a:bodyPr wrap="square" lIns="0" tIns="0" rIns="0" bIns="0" rtlCol="0" anchor="ctr"/>
          <a:lstStyle/>
          <a:p>
            <a:pPr marL="0" indent="0" algn="l">
              <a:lnSpc>
                <a:spcPct val="125000"/>
              </a:lnSpc>
              <a:buNone/>
            </a:pPr>
            <a:r>
              <a:rPr lang="en-US" sz="1400" dirty="0">
                <a:solidFill>
                  <a:srgbClr val="6B6878"/>
                </a:solidFill>
                <a:latin typeface="Inter" pitchFamily="34" charset="0"/>
                <a:ea typeface="Inter" pitchFamily="34" charset="-122"/>
                <a:cs typeface="Inter" pitchFamily="34" charset="-120"/>
              </a:rPr>
              <a:t>…who build one consistent system from web references AND their own Figma work, then hand it to AI tools.</a:t>
            </a:r>
            <a:endParaRPr lang="en-US" sz="1400" dirty="0"/>
          </a:p>
        </p:txBody>
      </p:sp>
      <p:sp>
        <p:nvSpPr>
          <p:cNvPr id="13" name="Shape 11"/>
          <p:cNvSpPr/>
          <p:nvPr/>
        </p:nvSpPr>
        <p:spPr>
          <a:xfrm>
            <a:off x="640080" y="4754880"/>
            <a:ext cx="10899648" cy="1371600"/>
          </a:xfrm>
          <a:prstGeom prst="roundRect">
            <a:avLst>
              <a:gd name="adj" fmla="val 9333"/>
            </a:avLst>
          </a:prstGeom>
          <a:solidFill>
            <a:srgbClr val="FFFFFF"/>
          </a:solidFill>
          <a:ln w="28575">
            <a:solidFill>
              <a:srgbClr val="14121F"/>
            </a:solidFill>
            <a:prstDash val="solid"/>
          </a:ln>
          <a:effectLst>
            <a:outerShdw blurRad="101600" dist="63500" dir="2700000" algn="bl" rotWithShape="0">
              <a:srgbClr val="14121F">
                <a:alpha val="100000"/>
              </a:srgbClr>
            </a:outerShdw>
          </a:effectLst>
        </p:spPr>
        <p:txBody>
          <a:bodyPr/>
          <a:lstStyle/>
          <a:p>
            <a:endParaRPr lang="de-DE"/>
          </a:p>
        </p:txBody>
      </p:sp>
      <p:sp>
        <p:nvSpPr>
          <p:cNvPr id="14" name="Text 12"/>
          <p:cNvSpPr/>
          <p:nvPr/>
        </p:nvSpPr>
        <p:spPr>
          <a:xfrm>
            <a:off x="960120" y="4892040"/>
            <a:ext cx="3840480" cy="1097280"/>
          </a:xfrm>
          <a:prstGeom prst="rect">
            <a:avLst/>
          </a:prstGeom>
          <a:noFill/>
          <a:ln/>
        </p:spPr>
        <p:txBody>
          <a:bodyPr wrap="square" lIns="0" tIns="0" rIns="0" bIns="0" rtlCol="0" anchor="ctr"/>
          <a:lstStyle/>
          <a:p>
            <a:pPr marL="0" indent="0" algn="l">
              <a:buNone/>
            </a:pPr>
            <a:r>
              <a:rPr lang="en-US" sz="4600" b="1" dirty="0">
                <a:solidFill>
                  <a:srgbClr val="5B2EFF"/>
                </a:solidFill>
                <a:latin typeface="Space Grotesk" pitchFamily="34" charset="0"/>
                <a:ea typeface="Space Grotesk" pitchFamily="34" charset="-122"/>
                <a:cs typeface="Space Grotesk" pitchFamily="34" charset="-120"/>
              </a:rPr>
              <a:t>&lt;10 min</a:t>
            </a:r>
            <a:endParaRPr lang="en-US" sz="4600" dirty="0"/>
          </a:p>
        </p:txBody>
      </p:sp>
      <p:sp>
        <p:nvSpPr>
          <p:cNvPr id="15" name="Text 13"/>
          <p:cNvSpPr/>
          <p:nvPr/>
        </p:nvSpPr>
        <p:spPr>
          <a:xfrm>
            <a:off x="4709160" y="4892040"/>
            <a:ext cx="6583680" cy="1097280"/>
          </a:xfrm>
          <a:prstGeom prst="rect">
            <a:avLst/>
          </a:prstGeom>
          <a:noFill/>
          <a:ln/>
        </p:spPr>
        <p:txBody>
          <a:bodyPr wrap="square" lIns="0" tIns="0" rIns="0" bIns="0" rtlCol="0" anchor="ctr"/>
          <a:lstStyle/>
          <a:p>
            <a:pPr marL="0" indent="0" algn="l">
              <a:lnSpc>
                <a:spcPct val="115000"/>
              </a:lnSpc>
              <a:buNone/>
            </a:pPr>
            <a:r>
              <a:rPr lang="en-US" sz="1500" b="1" dirty="0">
                <a:solidFill>
                  <a:srgbClr val="14121F"/>
                </a:solidFill>
                <a:latin typeface="Inter" pitchFamily="34" charset="0"/>
                <a:ea typeface="Inter" pitchFamily="34" charset="-122"/>
                <a:cs typeface="Inter" pitchFamily="34" charset="-120"/>
              </a:rPr>
              <a:t>screen to system</a:t>
            </a:r>
            <a:endParaRPr lang="en-US" sz="1500" dirty="0"/>
          </a:p>
          <a:p>
            <a:pPr marL="0" indent="0" algn="l">
              <a:lnSpc>
                <a:spcPct val="115000"/>
              </a:lnSpc>
              <a:buNone/>
            </a:pPr>
            <a:r>
              <a:rPr lang="en-US" sz="1500" dirty="0">
                <a:solidFill>
                  <a:srgbClr val="6B6878"/>
                </a:solidFill>
                <a:latin typeface="Inter" pitchFamily="34" charset="0"/>
                <a:ea typeface="Inter" pitchFamily="34" charset="-122"/>
                <a:cs typeface="Inter" pitchFamily="34" charset="-120"/>
              </a:rPr>
              <a:t>The goal: capture, review and export in a single sitting — two sources, one shared schema.</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640080" y="384048"/>
            <a:ext cx="3657600" cy="365760"/>
          </a:xfrm>
          <a:prstGeom prst="rect">
            <a:avLst/>
          </a:prstGeom>
          <a:noFill/>
          <a:ln/>
        </p:spPr>
        <p:txBody>
          <a:bodyPr wrap="square" lIns="0" tIns="0" rIns="0" bIns="0" rtlCol="0" anchor="ctr"/>
          <a:lstStyle/>
          <a:p>
            <a:pPr marL="0" indent="0" algn="l">
              <a:buNone/>
            </a:pPr>
            <a:r>
              <a:rPr lang="en-US" sz="1800" b="1" dirty="0">
                <a:solidFill>
                  <a:srgbClr val="14121F"/>
                </a:solidFill>
                <a:latin typeface="Space Grotesk" pitchFamily="34" charset="0"/>
                <a:ea typeface="Space Grotesk" pitchFamily="34" charset="-122"/>
                <a:cs typeface="Space Grotesk" pitchFamily="34" charset="-120"/>
              </a:rPr>
              <a:t>Style</a:t>
            </a:r>
            <a:r>
              <a:rPr lang="en-US" sz="1800" b="1" dirty="0">
                <a:solidFill>
                  <a:srgbClr val="5B2EFF"/>
                </a:solidFill>
                <a:latin typeface="Space Grotesk" pitchFamily="34" charset="0"/>
                <a:ea typeface="Space Grotesk" pitchFamily="34" charset="-122"/>
                <a:cs typeface="Space Grotesk" pitchFamily="34" charset="-120"/>
              </a:rPr>
              <a:t>Snap</a:t>
            </a:r>
            <a:endParaRPr lang="en-US" sz="1800" dirty="0"/>
          </a:p>
        </p:txBody>
      </p:sp>
      <p:sp>
        <p:nvSpPr>
          <p:cNvPr id="3" name="Text 1"/>
          <p:cNvSpPr/>
          <p:nvPr/>
        </p:nvSpPr>
        <p:spPr>
          <a:xfrm>
            <a:off x="10561320" y="420624"/>
            <a:ext cx="1005840" cy="292608"/>
          </a:xfrm>
          <a:prstGeom prst="rect">
            <a:avLst/>
          </a:prstGeom>
          <a:noFill/>
          <a:ln/>
        </p:spPr>
        <p:txBody>
          <a:bodyPr wrap="square" lIns="0" tIns="0" rIns="0" bIns="0" rtlCol="0" anchor="ctr"/>
          <a:lstStyle/>
          <a:p>
            <a:pPr marL="0" indent="0" algn="r">
              <a:buNone/>
            </a:pPr>
            <a:r>
              <a:rPr lang="en-US" sz="1000" dirty="0">
                <a:solidFill>
                  <a:srgbClr val="6B6878"/>
                </a:solidFill>
                <a:latin typeface="JetBrains Mono" pitchFamily="34" charset="0"/>
                <a:ea typeface="JetBrains Mono" pitchFamily="34" charset="-122"/>
                <a:cs typeface="JetBrains Mono" pitchFamily="34" charset="-120"/>
              </a:rPr>
              <a:t>04 / 08</a:t>
            </a:r>
            <a:endParaRPr lang="en-US" sz="1000" dirty="0"/>
          </a:p>
        </p:txBody>
      </p:sp>
      <p:sp>
        <p:nvSpPr>
          <p:cNvPr id="4" name="Text 2"/>
          <p:cNvSpPr/>
          <p:nvPr/>
        </p:nvSpPr>
        <p:spPr>
          <a:xfrm>
            <a:off x="621792" y="960120"/>
            <a:ext cx="10972800" cy="914400"/>
          </a:xfrm>
          <a:prstGeom prst="rect">
            <a:avLst/>
          </a:prstGeom>
          <a:noFill/>
          <a:ln/>
        </p:spPr>
        <p:txBody>
          <a:bodyPr wrap="square" lIns="0" tIns="0" rIns="0" bIns="0" rtlCol="0" anchor="ctr"/>
          <a:lstStyle/>
          <a:p>
            <a:pPr marL="0" indent="0" algn="l">
              <a:buNone/>
            </a:pPr>
            <a:r>
              <a:rPr lang="en-US" sz="5200" b="1" dirty="0">
                <a:solidFill>
                  <a:srgbClr val="14121F"/>
                </a:solidFill>
                <a:latin typeface="Space Grotesk" pitchFamily="34" charset="0"/>
                <a:ea typeface="Space Grotesk" pitchFamily="34" charset="-122"/>
                <a:cs typeface="Space Grotesk" pitchFamily="34" charset="-120"/>
              </a:rPr>
              <a:t>The solution</a:t>
            </a:r>
            <a:endParaRPr lang="en-US" sz="5200" dirty="0"/>
          </a:p>
        </p:txBody>
      </p:sp>
      <p:sp>
        <p:nvSpPr>
          <p:cNvPr id="5" name="Text 3"/>
          <p:cNvSpPr/>
          <p:nvPr/>
        </p:nvSpPr>
        <p:spPr>
          <a:xfrm>
            <a:off x="658368" y="1874520"/>
            <a:ext cx="10789920" cy="457200"/>
          </a:xfrm>
          <a:prstGeom prst="rect">
            <a:avLst/>
          </a:prstGeom>
          <a:noFill/>
          <a:ln/>
        </p:spPr>
        <p:txBody>
          <a:bodyPr wrap="square" lIns="0" tIns="0" rIns="0" bIns="0" rtlCol="0" anchor="ctr"/>
          <a:lstStyle/>
          <a:p>
            <a:pPr marL="0" indent="0" algn="l">
              <a:buNone/>
            </a:pPr>
            <a:r>
              <a:rPr lang="en-US" sz="1500" dirty="0">
                <a:solidFill>
                  <a:srgbClr val="6B6878"/>
                </a:solidFill>
                <a:latin typeface="Inter" pitchFamily="34" charset="0"/>
                <a:ea typeface="Inter" pitchFamily="34" charset="-122"/>
                <a:cs typeface="Inter" pitchFamily="34" charset="-120"/>
              </a:rPr>
              <a:t>Three surfaces to capture — unified by one shared token schema.</a:t>
            </a:r>
            <a:endParaRPr lang="en-US" sz="1500" dirty="0"/>
          </a:p>
        </p:txBody>
      </p:sp>
      <p:sp>
        <p:nvSpPr>
          <p:cNvPr id="6" name="Shape 4"/>
          <p:cNvSpPr/>
          <p:nvPr/>
        </p:nvSpPr>
        <p:spPr>
          <a:xfrm>
            <a:off x="640080" y="2423160"/>
            <a:ext cx="3456432" cy="2514600"/>
          </a:xfrm>
          <a:prstGeom prst="roundRect">
            <a:avLst>
              <a:gd name="adj" fmla="val 5091"/>
            </a:avLst>
          </a:prstGeom>
          <a:solidFill>
            <a:srgbClr val="FFFFFF"/>
          </a:solidFill>
          <a:ln w="28575">
            <a:solidFill>
              <a:srgbClr val="14121F"/>
            </a:solidFill>
            <a:prstDash val="solid"/>
          </a:ln>
          <a:effectLst>
            <a:outerShdw blurRad="101600" dist="76200" dir="2700000" algn="bl" rotWithShape="0">
              <a:srgbClr val="14121F">
                <a:alpha val="100000"/>
              </a:srgbClr>
            </a:outerShdw>
          </a:effectLst>
        </p:spPr>
        <p:txBody>
          <a:bodyPr/>
          <a:lstStyle/>
          <a:p>
            <a:endParaRPr lang="de-DE"/>
          </a:p>
        </p:txBody>
      </p:sp>
      <p:sp>
        <p:nvSpPr>
          <p:cNvPr id="7" name="Text 5"/>
          <p:cNvSpPr/>
          <p:nvPr/>
        </p:nvSpPr>
        <p:spPr>
          <a:xfrm>
            <a:off x="932688" y="2651760"/>
            <a:ext cx="2880360" cy="457200"/>
          </a:xfrm>
          <a:prstGeom prst="rect">
            <a:avLst/>
          </a:prstGeom>
          <a:noFill/>
          <a:ln/>
        </p:spPr>
        <p:txBody>
          <a:bodyPr wrap="square" lIns="0" tIns="0" rIns="0" bIns="0" rtlCol="0" anchor="ctr"/>
          <a:lstStyle/>
          <a:p>
            <a:pPr marL="0" indent="0" algn="l">
              <a:buNone/>
            </a:pPr>
            <a:r>
              <a:rPr lang="en-US" sz="1800" b="1" dirty="0">
                <a:solidFill>
                  <a:srgbClr val="14121F"/>
                </a:solidFill>
                <a:latin typeface="Space Grotesk" pitchFamily="34" charset="0"/>
                <a:ea typeface="Space Grotesk" pitchFamily="34" charset="-122"/>
                <a:cs typeface="Space Grotesk" pitchFamily="34" charset="-120"/>
              </a:rPr>
              <a:t>Browser extension</a:t>
            </a:r>
            <a:endParaRPr lang="en-US" sz="1800" dirty="0"/>
          </a:p>
        </p:txBody>
      </p:sp>
      <p:sp>
        <p:nvSpPr>
          <p:cNvPr id="8" name="Shape 6"/>
          <p:cNvSpPr/>
          <p:nvPr/>
        </p:nvSpPr>
        <p:spPr>
          <a:xfrm>
            <a:off x="932688" y="3154680"/>
            <a:ext cx="1554480" cy="384048"/>
          </a:xfrm>
          <a:prstGeom prst="roundRect">
            <a:avLst>
              <a:gd name="adj" fmla="val 47619"/>
            </a:avLst>
          </a:prstGeom>
          <a:solidFill>
            <a:srgbClr val="F3FFE3"/>
          </a:solidFill>
          <a:ln w="22225">
            <a:solidFill>
              <a:srgbClr val="14121F"/>
            </a:solidFill>
            <a:prstDash val="solid"/>
          </a:ln>
          <a:effectLst>
            <a:outerShdw blurRad="101600" dist="31750" dir="2700000" algn="bl" rotWithShape="0">
              <a:srgbClr val="14121F">
                <a:alpha val="100000"/>
              </a:srgbClr>
            </a:outerShdw>
          </a:effectLst>
        </p:spPr>
        <p:txBody>
          <a:bodyPr/>
          <a:lstStyle/>
          <a:p>
            <a:endParaRPr lang="de-DE"/>
          </a:p>
        </p:txBody>
      </p:sp>
      <p:sp>
        <p:nvSpPr>
          <p:cNvPr id="9" name="Text 7"/>
          <p:cNvSpPr/>
          <p:nvPr/>
        </p:nvSpPr>
        <p:spPr>
          <a:xfrm>
            <a:off x="932688" y="3154680"/>
            <a:ext cx="1554480" cy="384048"/>
          </a:xfrm>
          <a:prstGeom prst="rect">
            <a:avLst/>
          </a:prstGeom>
          <a:noFill/>
          <a:ln/>
        </p:spPr>
        <p:txBody>
          <a:bodyPr wrap="square" lIns="0" tIns="0" rIns="0" bIns="0" rtlCol="0" anchor="ctr"/>
          <a:lstStyle/>
          <a:p>
            <a:pPr marL="0" indent="0" algn="ctr">
              <a:buNone/>
            </a:pPr>
            <a:r>
              <a:rPr lang="en-US" sz="1100" b="1" dirty="0">
                <a:solidFill>
                  <a:srgbClr val="14121F"/>
                </a:solidFill>
                <a:latin typeface="Inter" pitchFamily="34" charset="0"/>
                <a:ea typeface="Inter" pitchFamily="34" charset="-122"/>
                <a:cs typeface="Inter" pitchFamily="34" charset="-120"/>
              </a:rPr>
              <a:t>Web Picker</a:t>
            </a:r>
            <a:endParaRPr lang="en-US" sz="1100" dirty="0"/>
          </a:p>
        </p:txBody>
      </p:sp>
      <p:sp>
        <p:nvSpPr>
          <p:cNvPr id="10" name="Text 8"/>
          <p:cNvSpPr/>
          <p:nvPr/>
        </p:nvSpPr>
        <p:spPr>
          <a:xfrm>
            <a:off x="932688" y="3703320"/>
            <a:ext cx="2880360" cy="914400"/>
          </a:xfrm>
          <a:prstGeom prst="rect">
            <a:avLst/>
          </a:prstGeom>
          <a:noFill/>
          <a:ln/>
        </p:spPr>
        <p:txBody>
          <a:bodyPr wrap="square" lIns="0" tIns="0" rIns="0" bIns="0" rtlCol="0" anchor="ctr"/>
          <a:lstStyle/>
          <a:p>
            <a:pPr marL="0" indent="0" algn="l">
              <a:lnSpc>
                <a:spcPct val="118000"/>
              </a:lnSpc>
              <a:buNone/>
            </a:pPr>
            <a:r>
              <a:rPr lang="en-US" sz="1250" dirty="0">
                <a:solidFill>
                  <a:srgbClr val="6B6878"/>
                </a:solidFill>
                <a:latin typeface="Inter" pitchFamily="34" charset="0"/>
                <a:ea typeface="Inter" pitchFamily="34" charset="-122"/>
                <a:cs typeface="Inter" pitchFamily="34" charset="-120"/>
              </a:rPr>
              <a:t>Click any element on the web → its tokens are captured.</a:t>
            </a:r>
            <a:endParaRPr lang="en-US" sz="1250" dirty="0"/>
          </a:p>
        </p:txBody>
      </p:sp>
      <p:sp>
        <p:nvSpPr>
          <p:cNvPr id="11" name="Text 9"/>
          <p:cNvSpPr/>
          <p:nvPr/>
        </p:nvSpPr>
        <p:spPr>
          <a:xfrm>
            <a:off x="932688" y="4526280"/>
            <a:ext cx="2880360" cy="320040"/>
          </a:xfrm>
          <a:prstGeom prst="rect">
            <a:avLst/>
          </a:prstGeom>
          <a:noFill/>
          <a:ln/>
        </p:spPr>
        <p:txBody>
          <a:bodyPr wrap="square" lIns="0" tIns="0" rIns="0" bIns="0" rtlCol="0" anchor="ctr"/>
          <a:lstStyle/>
          <a:p>
            <a:pPr marL="0" indent="0" algn="l">
              <a:buNone/>
            </a:pPr>
            <a:r>
              <a:rPr lang="en-US" sz="1000" dirty="0">
                <a:solidFill>
                  <a:srgbClr val="5B2EFF"/>
                </a:solidFill>
                <a:latin typeface="JetBrains Mono" pitchFamily="34" charset="0"/>
                <a:ea typeface="JetBrains Mono" pitchFamily="34" charset="-122"/>
                <a:cs typeface="JetBrains Mono" pitchFamily="34" charset="-120"/>
              </a:rPr>
              <a:t>Murtaza</a:t>
            </a:r>
            <a:endParaRPr lang="en-US" sz="1000" dirty="0"/>
          </a:p>
        </p:txBody>
      </p:sp>
      <p:sp>
        <p:nvSpPr>
          <p:cNvPr id="12" name="Shape 10"/>
          <p:cNvSpPr/>
          <p:nvPr/>
        </p:nvSpPr>
        <p:spPr>
          <a:xfrm>
            <a:off x="4370832" y="2423160"/>
            <a:ext cx="3456432" cy="2514600"/>
          </a:xfrm>
          <a:prstGeom prst="roundRect">
            <a:avLst>
              <a:gd name="adj" fmla="val 5091"/>
            </a:avLst>
          </a:prstGeom>
          <a:solidFill>
            <a:srgbClr val="FFFFFF"/>
          </a:solidFill>
          <a:ln w="28575">
            <a:solidFill>
              <a:srgbClr val="14121F"/>
            </a:solidFill>
            <a:prstDash val="solid"/>
          </a:ln>
          <a:effectLst>
            <a:outerShdw blurRad="101600" dist="76200" dir="2700000" algn="bl" rotWithShape="0">
              <a:srgbClr val="14121F">
                <a:alpha val="100000"/>
              </a:srgbClr>
            </a:outerShdw>
          </a:effectLst>
        </p:spPr>
        <p:txBody>
          <a:bodyPr/>
          <a:lstStyle/>
          <a:p>
            <a:endParaRPr lang="de-DE"/>
          </a:p>
        </p:txBody>
      </p:sp>
      <p:sp>
        <p:nvSpPr>
          <p:cNvPr id="13" name="Text 11"/>
          <p:cNvSpPr/>
          <p:nvPr/>
        </p:nvSpPr>
        <p:spPr>
          <a:xfrm>
            <a:off x="4663440" y="2651760"/>
            <a:ext cx="2880360" cy="457200"/>
          </a:xfrm>
          <a:prstGeom prst="rect">
            <a:avLst/>
          </a:prstGeom>
          <a:noFill/>
          <a:ln/>
        </p:spPr>
        <p:txBody>
          <a:bodyPr wrap="square" lIns="0" tIns="0" rIns="0" bIns="0" rtlCol="0" anchor="ctr"/>
          <a:lstStyle/>
          <a:p>
            <a:pPr marL="0" indent="0" algn="l">
              <a:buNone/>
            </a:pPr>
            <a:r>
              <a:rPr lang="en-US" sz="1800" b="1" dirty="0">
                <a:solidFill>
                  <a:srgbClr val="14121F"/>
                </a:solidFill>
                <a:latin typeface="Space Grotesk" pitchFamily="34" charset="0"/>
                <a:ea typeface="Space Grotesk" pitchFamily="34" charset="-122"/>
                <a:cs typeface="Space Grotesk" pitchFamily="34" charset="-120"/>
              </a:rPr>
              <a:t>Figma plugin</a:t>
            </a:r>
            <a:endParaRPr lang="en-US" sz="1800" dirty="0"/>
          </a:p>
        </p:txBody>
      </p:sp>
      <p:sp>
        <p:nvSpPr>
          <p:cNvPr id="14" name="Shape 12"/>
          <p:cNvSpPr/>
          <p:nvPr/>
        </p:nvSpPr>
        <p:spPr>
          <a:xfrm>
            <a:off x="4663440" y="3154680"/>
            <a:ext cx="1554480" cy="384048"/>
          </a:xfrm>
          <a:prstGeom prst="roundRect">
            <a:avLst>
              <a:gd name="adj" fmla="val 47619"/>
            </a:avLst>
          </a:prstGeom>
          <a:solidFill>
            <a:srgbClr val="F3FFE3"/>
          </a:solidFill>
          <a:ln w="22225">
            <a:solidFill>
              <a:srgbClr val="14121F"/>
            </a:solidFill>
            <a:prstDash val="solid"/>
          </a:ln>
          <a:effectLst>
            <a:outerShdw blurRad="101600" dist="31750" dir="2700000" algn="bl" rotWithShape="0">
              <a:srgbClr val="14121F">
                <a:alpha val="100000"/>
              </a:srgbClr>
            </a:outerShdw>
          </a:effectLst>
        </p:spPr>
        <p:txBody>
          <a:bodyPr/>
          <a:lstStyle/>
          <a:p>
            <a:endParaRPr lang="de-DE"/>
          </a:p>
        </p:txBody>
      </p:sp>
      <p:sp>
        <p:nvSpPr>
          <p:cNvPr id="15" name="Text 13"/>
          <p:cNvSpPr/>
          <p:nvPr/>
        </p:nvSpPr>
        <p:spPr>
          <a:xfrm>
            <a:off x="4663440" y="3154680"/>
            <a:ext cx="1554480" cy="384048"/>
          </a:xfrm>
          <a:prstGeom prst="rect">
            <a:avLst/>
          </a:prstGeom>
          <a:noFill/>
          <a:ln/>
        </p:spPr>
        <p:txBody>
          <a:bodyPr wrap="square" lIns="0" tIns="0" rIns="0" bIns="0" rtlCol="0" anchor="ctr"/>
          <a:lstStyle/>
          <a:p>
            <a:pPr marL="0" indent="0" algn="ctr">
              <a:buNone/>
            </a:pPr>
            <a:r>
              <a:rPr lang="en-US" sz="1100" b="1" dirty="0">
                <a:solidFill>
                  <a:srgbClr val="14121F"/>
                </a:solidFill>
                <a:latin typeface="Inter" pitchFamily="34" charset="0"/>
                <a:ea typeface="Inter" pitchFamily="34" charset="-122"/>
                <a:cs typeface="Inter" pitchFamily="34" charset="-120"/>
              </a:rPr>
              <a:t>Export &amp; Import</a:t>
            </a:r>
            <a:endParaRPr lang="en-US" sz="1100" dirty="0"/>
          </a:p>
        </p:txBody>
      </p:sp>
      <p:sp>
        <p:nvSpPr>
          <p:cNvPr id="16" name="Text 14"/>
          <p:cNvSpPr/>
          <p:nvPr/>
        </p:nvSpPr>
        <p:spPr>
          <a:xfrm>
            <a:off x="4663440" y="3703320"/>
            <a:ext cx="2880360" cy="914400"/>
          </a:xfrm>
          <a:prstGeom prst="rect">
            <a:avLst/>
          </a:prstGeom>
          <a:noFill/>
          <a:ln/>
        </p:spPr>
        <p:txBody>
          <a:bodyPr wrap="square" lIns="0" tIns="0" rIns="0" bIns="0" rtlCol="0" anchor="ctr"/>
          <a:lstStyle/>
          <a:p>
            <a:pPr marL="0" indent="0" algn="l">
              <a:lnSpc>
                <a:spcPct val="118000"/>
              </a:lnSpc>
              <a:buNone/>
            </a:pPr>
            <a:r>
              <a:rPr lang="en-US" sz="1250" dirty="0">
                <a:solidFill>
                  <a:srgbClr val="6B6878"/>
                </a:solidFill>
                <a:latin typeface="Inter" pitchFamily="34" charset="0"/>
                <a:ea typeface="Inter" pitchFamily="34" charset="-122"/>
                <a:cs typeface="Inter" pitchFamily="34" charset="-120"/>
              </a:rPr>
              <a:t>Select a frame → extract tokens → send them back as Styles &amp; Variables.</a:t>
            </a:r>
            <a:endParaRPr lang="en-US" sz="1250" dirty="0"/>
          </a:p>
        </p:txBody>
      </p:sp>
      <p:sp>
        <p:nvSpPr>
          <p:cNvPr id="17" name="Text 15"/>
          <p:cNvSpPr/>
          <p:nvPr/>
        </p:nvSpPr>
        <p:spPr>
          <a:xfrm>
            <a:off x="4663440" y="4526280"/>
            <a:ext cx="2880360" cy="320040"/>
          </a:xfrm>
          <a:prstGeom prst="rect">
            <a:avLst/>
          </a:prstGeom>
          <a:noFill/>
          <a:ln/>
        </p:spPr>
        <p:txBody>
          <a:bodyPr wrap="square" lIns="0" tIns="0" rIns="0" bIns="0" rtlCol="0" anchor="ctr"/>
          <a:lstStyle/>
          <a:p>
            <a:pPr marL="0" indent="0" algn="l">
              <a:buNone/>
            </a:pPr>
            <a:r>
              <a:rPr lang="en-US" sz="1000" dirty="0">
                <a:solidFill>
                  <a:srgbClr val="5B2EFF"/>
                </a:solidFill>
                <a:latin typeface="JetBrains Mono" pitchFamily="34" charset="0"/>
                <a:ea typeface="JetBrains Mono" pitchFamily="34" charset="-122"/>
                <a:cs typeface="JetBrains Mono" pitchFamily="34" charset="-120"/>
              </a:rPr>
              <a:t>Theresa</a:t>
            </a:r>
            <a:endParaRPr lang="en-US" sz="1000" dirty="0"/>
          </a:p>
        </p:txBody>
      </p:sp>
      <p:sp>
        <p:nvSpPr>
          <p:cNvPr id="18" name="Shape 16"/>
          <p:cNvSpPr/>
          <p:nvPr/>
        </p:nvSpPr>
        <p:spPr>
          <a:xfrm>
            <a:off x="8101584" y="2423160"/>
            <a:ext cx="3456432" cy="2514600"/>
          </a:xfrm>
          <a:prstGeom prst="roundRect">
            <a:avLst>
              <a:gd name="adj" fmla="val 5091"/>
            </a:avLst>
          </a:prstGeom>
          <a:solidFill>
            <a:srgbClr val="FFFFFF"/>
          </a:solidFill>
          <a:ln w="28575">
            <a:solidFill>
              <a:srgbClr val="14121F"/>
            </a:solidFill>
            <a:prstDash val="solid"/>
          </a:ln>
          <a:effectLst>
            <a:outerShdw blurRad="101600" dist="76200" dir="2700000" algn="bl" rotWithShape="0">
              <a:srgbClr val="14121F">
                <a:alpha val="100000"/>
              </a:srgbClr>
            </a:outerShdw>
          </a:effectLst>
        </p:spPr>
        <p:txBody>
          <a:bodyPr/>
          <a:lstStyle/>
          <a:p>
            <a:endParaRPr lang="de-DE"/>
          </a:p>
        </p:txBody>
      </p:sp>
      <p:sp>
        <p:nvSpPr>
          <p:cNvPr id="19" name="Text 17"/>
          <p:cNvSpPr/>
          <p:nvPr/>
        </p:nvSpPr>
        <p:spPr>
          <a:xfrm>
            <a:off x="8394192" y="2651760"/>
            <a:ext cx="2880360" cy="457200"/>
          </a:xfrm>
          <a:prstGeom prst="rect">
            <a:avLst/>
          </a:prstGeom>
          <a:noFill/>
          <a:ln/>
        </p:spPr>
        <p:txBody>
          <a:bodyPr wrap="square" lIns="0" tIns="0" rIns="0" bIns="0" rtlCol="0" anchor="ctr"/>
          <a:lstStyle/>
          <a:p>
            <a:pPr marL="0" indent="0" algn="l">
              <a:buNone/>
            </a:pPr>
            <a:r>
              <a:rPr lang="en-US" sz="1800" b="1" dirty="0">
                <a:solidFill>
                  <a:srgbClr val="14121F"/>
                </a:solidFill>
                <a:latin typeface="Space Grotesk" pitchFamily="34" charset="0"/>
                <a:ea typeface="Space Grotesk" pitchFamily="34" charset="-122"/>
                <a:cs typeface="Space Grotesk" pitchFamily="34" charset="-120"/>
              </a:rPr>
              <a:t>Webtool</a:t>
            </a:r>
            <a:endParaRPr lang="en-US" sz="1800" dirty="0"/>
          </a:p>
        </p:txBody>
      </p:sp>
      <p:sp>
        <p:nvSpPr>
          <p:cNvPr id="20" name="Shape 18"/>
          <p:cNvSpPr/>
          <p:nvPr/>
        </p:nvSpPr>
        <p:spPr>
          <a:xfrm>
            <a:off x="8394192" y="3154680"/>
            <a:ext cx="1554480" cy="384048"/>
          </a:xfrm>
          <a:prstGeom prst="roundRect">
            <a:avLst>
              <a:gd name="adj" fmla="val 47619"/>
            </a:avLst>
          </a:prstGeom>
          <a:solidFill>
            <a:srgbClr val="F3FFE3"/>
          </a:solidFill>
          <a:ln w="22225">
            <a:solidFill>
              <a:srgbClr val="14121F"/>
            </a:solidFill>
            <a:prstDash val="solid"/>
          </a:ln>
          <a:effectLst>
            <a:outerShdw blurRad="101600" dist="31750" dir="2700000" algn="bl" rotWithShape="0">
              <a:srgbClr val="14121F">
                <a:alpha val="100000"/>
              </a:srgbClr>
            </a:outerShdw>
          </a:effectLst>
        </p:spPr>
        <p:txBody>
          <a:bodyPr/>
          <a:lstStyle/>
          <a:p>
            <a:endParaRPr lang="de-DE"/>
          </a:p>
        </p:txBody>
      </p:sp>
      <p:sp>
        <p:nvSpPr>
          <p:cNvPr id="21" name="Text 19"/>
          <p:cNvSpPr/>
          <p:nvPr/>
        </p:nvSpPr>
        <p:spPr>
          <a:xfrm>
            <a:off x="8394192" y="3154680"/>
            <a:ext cx="1554480" cy="384048"/>
          </a:xfrm>
          <a:prstGeom prst="rect">
            <a:avLst/>
          </a:prstGeom>
          <a:noFill/>
          <a:ln/>
        </p:spPr>
        <p:txBody>
          <a:bodyPr wrap="square" lIns="0" tIns="0" rIns="0" bIns="0" rtlCol="0" anchor="ctr"/>
          <a:lstStyle/>
          <a:p>
            <a:pPr marL="0" indent="0" algn="ctr">
              <a:buNone/>
            </a:pPr>
            <a:r>
              <a:rPr lang="en-US" sz="1100" b="1" dirty="0">
                <a:solidFill>
                  <a:srgbClr val="14121F"/>
                </a:solidFill>
                <a:latin typeface="Inter" pitchFamily="34" charset="0"/>
                <a:ea typeface="Inter" pitchFamily="34" charset="-122"/>
                <a:cs typeface="Inter" pitchFamily="34" charset="-120"/>
              </a:rPr>
              <a:t>Assemble</a:t>
            </a:r>
            <a:endParaRPr lang="en-US" sz="1100" dirty="0"/>
          </a:p>
        </p:txBody>
      </p:sp>
      <p:sp>
        <p:nvSpPr>
          <p:cNvPr id="22" name="Text 20"/>
          <p:cNvSpPr/>
          <p:nvPr/>
        </p:nvSpPr>
        <p:spPr>
          <a:xfrm>
            <a:off x="8394192" y="3703320"/>
            <a:ext cx="2880360" cy="914400"/>
          </a:xfrm>
          <a:prstGeom prst="rect">
            <a:avLst/>
          </a:prstGeom>
          <a:noFill/>
          <a:ln/>
        </p:spPr>
        <p:txBody>
          <a:bodyPr wrap="square" lIns="0" tIns="0" rIns="0" bIns="0" rtlCol="0" anchor="ctr"/>
          <a:lstStyle/>
          <a:p>
            <a:pPr marL="0" indent="0" algn="l">
              <a:lnSpc>
                <a:spcPct val="118000"/>
              </a:lnSpc>
              <a:buNone/>
            </a:pPr>
            <a:r>
              <a:rPr lang="en-US" sz="1250" dirty="0">
                <a:solidFill>
                  <a:srgbClr val="6B6878"/>
                </a:solidFill>
                <a:latin typeface="Inter" pitchFamily="34" charset="0"/>
                <a:ea typeface="Inter" pitchFamily="34" charset="-122"/>
                <a:cs typeface="Inter" pitchFamily="34" charset="-120"/>
              </a:rPr>
              <a:t>Merge, name and assign roles to tokens → build the design system.</a:t>
            </a:r>
            <a:endParaRPr lang="en-US" sz="1250" dirty="0"/>
          </a:p>
        </p:txBody>
      </p:sp>
      <p:sp>
        <p:nvSpPr>
          <p:cNvPr id="23" name="Text 21"/>
          <p:cNvSpPr/>
          <p:nvPr/>
        </p:nvSpPr>
        <p:spPr>
          <a:xfrm>
            <a:off x="8394192" y="4526280"/>
            <a:ext cx="2880360" cy="320040"/>
          </a:xfrm>
          <a:prstGeom prst="rect">
            <a:avLst/>
          </a:prstGeom>
          <a:noFill/>
          <a:ln/>
        </p:spPr>
        <p:txBody>
          <a:bodyPr wrap="square" lIns="0" tIns="0" rIns="0" bIns="0" rtlCol="0" anchor="ctr"/>
          <a:lstStyle/>
          <a:p>
            <a:pPr marL="0" indent="0" algn="l">
              <a:buNone/>
            </a:pPr>
            <a:r>
              <a:rPr lang="en-US" sz="1000" dirty="0">
                <a:solidFill>
                  <a:srgbClr val="5B2EFF"/>
                </a:solidFill>
                <a:latin typeface="JetBrains Mono" pitchFamily="34" charset="0"/>
                <a:ea typeface="JetBrains Mono" pitchFamily="34" charset="-122"/>
                <a:cs typeface="JetBrains Mono" pitchFamily="34" charset="-120"/>
              </a:rPr>
              <a:t>Makram</a:t>
            </a:r>
            <a:endParaRPr lang="en-US" sz="1000" dirty="0"/>
          </a:p>
        </p:txBody>
      </p:sp>
      <p:sp>
        <p:nvSpPr>
          <p:cNvPr id="24" name="Shape 22"/>
          <p:cNvSpPr/>
          <p:nvPr/>
        </p:nvSpPr>
        <p:spPr>
          <a:xfrm>
            <a:off x="640080" y="5212080"/>
            <a:ext cx="10899648" cy="1097280"/>
          </a:xfrm>
          <a:prstGeom prst="roundRect">
            <a:avLst>
              <a:gd name="adj" fmla="val 10833"/>
            </a:avLst>
          </a:prstGeom>
          <a:solidFill>
            <a:srgbClr val="FFFFFF"/>
          </a:solidFill>
          <a:ln w="28575">
            <a:solidFill>
              <a:srgbClr val="14121F"/>
            </a:solidFill>
            <a:prstDash val="solid"/>
          </a:ln>
          <a:effectLst>
            <a:outerShdw blurRad="101600" dist="63500" dir="2700000" algn="bl" rotWithShape="0">
              <a:srgbClr val="14121F">
                <a:alpha val="100000"/>
              </a:srgbClr>
            </a:outerShdw>
          </a:effectLst>
        </p:spPr>
        <p:txBody>
          <a:bodyPr/>
          <a:lstStyle/>
          <a:p>
            <a:endParaRPr lang="de-DE"/>
          </a:p>
        </p:txBody>
      </p:sp>
      <p:sp>
        <p:nvSpPr>
          <p:cNvPr id="25" name="Text 23"/>
          <p:cNvSpPr/>
          <p:nvPr/>
        </p:nvSpPr>
        <p:spPr>
          <a:xfrm>
            <a:off x="914400" y="5212080"/>
            <a:ext cx="10424160" cy="1097280"/>
          </a:xfrm>
          <a:prstGeom prst="rect">
            <a:avLst/>
          </a:prstGeom>
          <a:noFill/>
          <a:ln/>
        </p:spPr>
        <p:txBody>
          <a:bodyPr wrap="square" lIns="0" tIns="0" rIns="0" bIns="0" rtlCol="0" anchor="ctr"/>
          <a:lstStyle/>
          <a:p>
            <a:pPr marL="0" indent="0" algn="l">
              <a:buNone/>
            </a:pPr>
            <a:r>
              <a:rPr lang="en-US" sz="1700" b="1" dirty="0">
                <a:solidFill>
                  <a:srgbClr val="14121F"/>
                </a:solidFill>
                <a:latin typeface="Space Grotesk" pitchFamily="34" charset="0"/>
                <a:ea typeface="Space Grotesk" pitchFamily="34" charset="-122"/>
                <a:cs typeface="Space Grotesk" pitchFamily="34" charset="-120"/>
              </a:rPr>
              <a:t>One shared schema:  </a:t>
            </a:r>
            <a:r>
              <a:rPr lang="en-US" sz="1500" b="1" dirty="0">
                <a:solidFill>
                  <a:srgbClr val="5B2EFF"/>
                </a:solidFill>
                <a:latin typeface="JetBrains Mono" pitchFamily="34" charset="0"/>
                <a:ea typeface="JetBrains Mono" pitchFamily="34" charset="-122"/>
                <a:cs typeface="JetBrains Mono" pitchFamily="34" charset="-120"/>
              </a:rPr>
              <a:t>docs/types.ts</a:t>
            </a:r>
            <a:r>
              <a:rPr lang="en-US" sz="1300" dirty="0">
                <a:solidFill>
                  <a:srgbClr val="6B6878"/>
                </a:solidFill>
                <a:latin typeface="Inter" pitchFamily="34" charset="0"/>
                <a:ea typeface="Inter" pitchFamily="34" charset="-122"/>
                <a:cs typeface="Inter" pitchFamily="34" charset="-120"/>
              </a:rPr>
              <a:t>  — the same token types across all three codebases, type-safe.</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640080" y="384048"/>
            <a:ext cx="3657600" cy="365760"/>
          </a:xfrm>
          <a:prstGeom prst="rect">
            <a:avLst/>
          </a:prstGeom>
          <a:noFill/>
          <a:ln/>
        </p:spPr>
        <p:txBody>
          <a:bodyPr wrap="square" lIns="0" tIns="0" rIns="0" bIns="0" rtlCol="0" anchor="ctr"/>
          <a:lstStyle/>
          <a:p>
            <a:pPr marL="0" indent="0" algn="l">
              <a:buNone/>
            </a:pPr>
            <a:r>
              <a:rPr lang="en-US" sz="1800" b="1" dirty="0">
                <a:solidFill>
                  <a:srgbClr val="14121F"/>
                </a:solidFill>
                <a:latin typeface="Space Grotesk" pitchFamily="34" charset="0"/>
                <a:ea typeface="Space Grotesk" pitchFamily="34" charset="-122"/>
                <a:cs typeface="Space Grotesk" pitchFamily="34" charset="-120"/>
              </a:rPr>
              <a:t>Style</a:t>
            </a:r>
            <a:r>
              <a:rPr lang="en-US" sz="1800" b="1" dirty="0">
                <a:solidFill>
                  <a:srgbClr val="5B2EFF"/>
                </a:solidFill>
                <a:latin typeface="Space Grotesk" pitchFamily="34" charset="0"/>
                <a:ea typeface="Space Grotesk" pitchFamily="34" charset="-122"/>
                <a:cs typeface="Space Grotesk" pitchFamily="34" charset="-120"/>
              </a:rPr>
              <a:t>Snap</a:t>
            </a:r>
            <a:endParaRPr lang="en-US" sz="1800" dirty="0"/>
          </a:p>
        </p:txBody>
      </p:sp>
      <p:sp>
        <p:nvSpPr>
          <p:cNvPr id="3" name="Text 1"/>
          <p:cNvSpPr/>
          <p:nvPr/>
        </p:nvSpPr>
        <p:spPr>
          <a:xfrm>
            <a:off x="10561320" y="420624"/>
            <a:ext cx="1005840" cy="292608"/>
          </a:xfrm>
          <a:prstGeom prst="rect">
            <a:avLst/>
          </a:prstGeom>
          <a:noFill/>
          <a:ln/>
        </p:spPr>
        <p:txBody>
          <a:bodyPr wrap="square" lIns="0" tIns="0" rIns="0" bIns="0" rtlCol="0" anchor="ctr"/>
          <a:lstStyle/>
          <a:p>
            <a:pPr marL="0" indent="0" algn="r">
              <a:buNone/>
            </a:pPr>
            <a:r>
              <a:rPr lang="en-US" sz="1000" dirty="0">
                <a:solidFill>
                  <a:srgbClr val="6B6878"/>
                </a:solidFill>
                <a:latin typeface="JetBrains Mono" pitchFamily="34" charset="0"/>
                <a:ea typeface="JetBrains Mono" pitchFamily="34" charset="-122"/>
                <a:cs typeface="JetBrains Mono" pitchFamily="34" charset="-120"/>
              </a:rPr>
              <a:t>05 / 08</a:t>
            </a:r>
            <a:endParaRPr lang="en-US" sz="1000" dirty="0"/>
          </a:p>
        </p:txBody>
      </p:sp>
      <p:sp>
        <p:nvSpPr>
          <p:cNvPr id="4" name="Text 2"/>
          <p:cNvSpPr/>
          <p:nvPr/>
        </p:nvSpPr>
        <p:spPr>
          <a:xfrm>
            <a:off x="621792" y="960120"/>
            <a:ext cx="10972800" cy="914400"/>
          </a:xfrm>
          <a:prstGeom prst="rect">
            <a:avLst/>
          </a:prstGeom>
          <a:noFill/>
          <a:ln/>
        </p:spPr>
        <p:txBody>
          <a:bodyPr wrap="square" lIns="0" tIns="0" rIns="0" bIns="0" rtlCol="0" anchor="ctr"/>
          <a:lstStyle/>
          <a:p>
            <a:pPr marL="0" indent="0" algn="l">
              <a:buNone/>
            </a:pPr>
            <a:r>
              <a:rPr lang="en-US" sz="5200" b="1" dirty="0">
                <a:solidFill>
                  <a:srgbClr val="14121F"/>
                </a:solidFill>
                <a:latin typeface="Space Grotesk" pitchFamily="34" charset="0"/>
                <a:ea typeface="Space Grotesk" pitchFamily="34" charset="-122"/>
                <a:cs typeface="Space Grotesk" pitchFamily="34" charset="-120"/>
              </a:rPr>
              <a:t>How it works</a:t>
            </a:r>
            <a:endParaRPr lang="en-US" sz="5200" dirty="0"/>
          </a:p>
        </p:txBody>
      </p:sp>
      <p:sp>
        <p:nvSpPr>
          <p:cNvPr id="5" name="Text 3"/>
          <p:cNvSpPr/>
          <p:nvPr/>
        </p:nvSpPr>
        <p:spPr>
          <a:xfrm>
            <a:off x="658368" y="1874520"/>
            <a:ext cx="10789920" cy="457200"/>
          </a:xfrm>
          <a:prstGeom prst="rect">
            <a:avLst/>
          </a:prstGeom>
          <a:noFill/>
          <a:ln/>
        </p:spPr>
        <p:txBody>
          <a:bodyPr wrap="square" lIns="0" tIns="0" rIns="0" bIns="0" rtlCol="0" anchor="ctr"/>
          <a:lstStyle/>
          <a:p>
            <a:pPr marL="0" indent="0" algn="l">
              <a:buNone/>
            </a:pPr>
            <a:r>
              <a:rPr lang="en-US" sz="1500" dirty="0">
                <a:solidFill>
                  <a:srgbClr val="6B6878"/>
                </a:solidFill>
                <a:latin typeface="Inter" pitchFamily="34" charset="0"/>
                <a:ea typeface="Inter" pitchFamily="34" charset="-122"/>
                <a:cs typeface="Inter" pitchFamily="34" charset="-120"/>
              </a:rPr>
              <a:t>Three steps from a raw screen to an exportable design system.</a:t>
            </a:r>
            <a:endParaRPr lang="en-US" sz="1500" dirty="0"/>
          </a:p>
        </p:txBody>
      </p:sp>
      <p:sp>
        <p:nvSpPr>
          <p:cNvPr id="6" name="Shape 4"/>
          <p:cNvSpPr/>
          <p:nvPr/>
        </p:nvSpPr>
        <p:spPr>
          <a:xfrm>
            <a:off x="640080" y="2423160"/>
            <a:ext cx="3200400" cy="2514600"/>
          </a:xfrm>
          <a:prstGeom prst="roundRect">
            <a:avLst>
              <a:gd name="adj" fmla="val 5091"/>
            </a:avLst>
          </a:prstGeom>
          <a:solidFill>
            <a:srgbClr val="FFFFFF"/>
          </a:solidFill>
          <a:ln w="28575">
            <a:solidFill>
              <a:srgbClr val="14121F"/>
            </a:solidFill>
            <a:prstDash val="solid"/>
          </a:ln>
          <a:effectLst>
            <a:outerShdw blurRad="101600" dist="76200" dir="2700000" algn="bl" rotWithShape="0">
              <a:srgbClr val="14121F">
                <a:alpha val="100000"/>
              </a:srgbClr>
            </a:outerShdw>
          </a:effectLst>
        </p:spPr>
        <p:txBody>
          <a:bodyPr/>
          <a:lstStyle/>
          <a:p>
            <a:endParaRPr lang="de-DE"/>
          </a:p>
        </p:txBody>
      </p:sp>
      <p:sp>
        <p:nvSpPr>
          <p:cNvPr id="7" name="Shape 5"/>
          <p:cNvSpPr/>
          <p:nvPr/>
        </p:nvSpPr>
        <p:spPr>
          <a:xfrm>
            <a:off x="914400" y="2697480"/>
            <a:ext cx="658368" cy="658368"/>
          </a:xfrm>
          <a:prstGeom prst="roundRect">
            <a:avLst>
              <a:gd name="adj" fmla="val 13889"/>
            </a:avLst>
          </a:prstGeom>
          <a:solidFill>
            <a:srgbClr val="5B2EFF"/>
          </a:solidFill>
          <a:ln w="22225">
            <a:solidFill>
              <a:srgbClr val="14121F"/>
            </a:solidFill>
            <a:prstDash val="solid"/>
          </a:ln>
          <a:effectLst>
            <a:outerShdw blurRad="101600" dist="38100" dir="2700000" algn="bl" rotWithShape="0">
              <a:srgbClr val="14121F">
                <a:alpha val="100000"/>
              </a:srgbClr>
            </a:outerShdw>
          </a:effectLst>
        </p:spPr>
        <p:txBody>
          <a:bodyPr/>
          <a:lstStyle/>
          <a:p>
            <a:endParaRPr lang="de-DE"/>
          </a:p>
        </p:txBody>
      </p:sp>
      <p:sp>
        <p:nvSpPr>
          <p:cNvPr id="8" name="Text 6"/>
          <p:cNvSpPr/>
          <p:nvPr/>
        </p:nvSpPr>
        <p:spPr>
          <a:xfrm>
            <a:off x="914400" y="2697480"/>
            <a:ext cx="658368" cy="658368"/>
          </a:xfrm>
          <a:prstGeom prst="rect">
            <a:avLst/>
          </a:prstGeom>
          <a:noFill/>
          <a:ln/>
        </p:spPr>
        <p:txBody>
          <a:bodyPr wrap="square" lIns="0" tIns="0" rIns="0" bIns="0" rtlCol="0" anchor="ctr"/>
          <a:lstStyle/>
          <a:p>
            <a:pPr marL="0" indent="0" algn="ctr">
              <a:buNone/>
            </a:pPr>
            <a:r>
              <a:rPr lang="en-US" sz="2600" b="1" dirty="0">
                <a:solidFill>
                  <a:srgbClr val="FFFFFF"/>
                </a:solidFill>
                <a:latin typeface="Space Grotesk" pitchFamily="34" charset="0"/>
                <a:ea typeface="Space Grotesk" pitchFamily="34" charset="-122"/>
                <a:cs typeface="Space Grotesk" pitchFamily="34" charset="-120"/>
              </a:rPr>
              <a:t>1</a:t>
            </a:r>
            <a:endParaRPr lang="en-US" sz="2600" dirty="0"/>
          </a:p>
        </p:txBody>
      </p:sp>
      <p:sp>
        <p:nvSpPr>
          <p:cNvPr id="9" name="Text 7"/>
          <p:cNvSpPr/>
          <p:nvPr/>
        </p:nvSpPr>
        <p:spPr>
          <a:xfrm>
            <a:off x="914400" y="3520440"/>
            <a:ext cx="2651760" cy="457200"/>
          </a:xfrm>
          <a:prstGeom prst="rect">
            <a:avLst/>
          </a:prstGeom>
          <a:noFill/>
          <a:ln/>
        </p:spPr>
        <p:txBody>
          <a:bodyPr wrap="square" lIns="0" tIns="0" rIns="0" bIns="0" rtlCol="0" anchor="ctr"/>
          <a:lstStyle/>
          <a:p>
            <a:pPr marL="0" indent="0" algn="l">
              <a:buNone/>
            </a:pPr>
            <a:r>
              <a:rPr lang="en-US" sz="2000" b="1" dirty="0">
                <a:solidFill>
                  <a:srgbClr val="14121F"/>
                </a:solidFill>
                <a:latin typeface="Space Grotesk" pitchFamily="34" charset="0"/>
                <a:ea typeface="Space Grotesk" pitchFamily="34" charset="-122"/>
                <a:cs typeface="Space Grotesk" pitchFamily="34" charset="-120"/>
              </a:rPr>
              <a:t>Capture</a:t>
            </a:r>
            <a:endParaRPr lang="en-US" sz="2000" dirty="0"/>
          </a:p>
        </p:txBody>
      </p:sp>
      <p:sp>
        <p:nvSpPr>
          <p:cNvPr id="10" name="Text 8"/>
          <p:cNvSpPr/>
          <p:nvPr/>
        </p:nvSpPr>
        <p:spPr>
          <a:xfrm>
            <a:off x="914400" y="4005072"/>
            <a:ext cx="2651760" cy="914400"/>
          </a:xfrm>
          <a:prstGeom prst="rect">
            <a:avLst/>
          </a:prstGeom>
          <a:noFill/>
          <a:ln/>
        </p:spPr>
        <p:txBody>
          <a:bodyPr wrap="square" lIns="0" tIns="0" rIns="0" bIns="0" rtlCol="0" anchor="ctr"/>
          <a:lstStyle/>
          <a:p>
            <a:pPr marL="0" indent="0" algn="l">
              <a:lnSpc>
                <a:spcPct val="118000"/>
              </a:lnSpc>
              <a:buNone/>
            </a:pPr>
            <a:r>
              <a:rPr lang="en-US" sz="1250" dirty="0">
                <a:solidFill>
                  <a:srgbClr val="6B6878"/>
                </a:solidFill>
                <a:latin typeface="Inter" pitchFamily="34" charset="0"/>
                <a:ea typeface="Inter" pitchFamily="34" charset="-122"/>
                <a:cs typeface="Inter" pitchFamily="34" charset="-120"/>
              </a:rPr>
              <a:t>Grab tokens from the web or Figma — as raw JSON, lossless.</a:t>
            </a:r>
            <a:endParaRPr lang="en-US" sz="1250" dirty="0"/>
          </a:p>
        </p:txBody>
      </p:sp>
      <p:sp>
        <p:nvSpPr>
          <p:cNvPr id="11" name="Text 9"/>
          <p:cNvSpPr/>
          <p:nvPr/>
        </p:nvSpPr>
        <p:spPr>
          <a:xfrm>
            <a:off x="3941064" y="3017520"/>
            <a:ext cx="384048" cy="640080"/>
          </a:xfrm>
          <a:prstGeom prst="rect">
            <a:avLst/>
          </a:prstGeom>
          <a:noFill/>
          <a:ln/>
        </p:spPr>
        <p:txBody>
          <a:bodyPr wrap="square" lIns="0" tIns="0" rIns="0" bIns="0" rtlCol="0" anchor="ctr"/>
          <a:lstStyle/>
          <a:p>
            <a:pPr marL="0" indent="0" algn="ctr">
              <a:buNone/>
            </a:pPr>
            <a:r>
              <a:rPr lang="en-US" sz="2800" b="1" dirty="0">
                <a:solidFill>
                  <a:srgbClr val="14121F"/>
                </a:solidFill>
                <a:latin typeface="Space Grotesk" pitchFamily="34" charset="0"/>
                <a:ea typeface="Space Grotesk" pitchFamily="34" charset="-122"/>
                <a:cs typeface="Space Grotesk" pitchFamily="34" charset="-120"/>
              </a:rPr>
              <a:t>→</a:t>
            </a:r>
            <a:endParaRPr lang="en-US" sz="2800" dirty="0"/>
          </a:p>
        </p:txBody>
      </p:sp>
      <p:sp>
        <p:nvSpPr>
          <p:cNvPr id="12" name="Shape 10"/>
          <p:cNvSpPr/>
          <p:nvPr/>
        </p:nvSpPr>
        <p:spPr>
          <a:xfrm>
            <a:off x="4443984" y="2423160"/>
            <a:ext cx="3200400" cy="2514600"/>
          </a:xfrm>
          <a:prstGeom prst="roundRect">
            <a:avLst>
              <a:gd name="adj" fmla="val 5091"/>
            </a:avLst>
          </a:prstGeom>
          <a:solidFill>
            <a:srgbClr val="FFFFFF"/>
          </a:solidFill>
          <a:ln w="28575">
            <a:solidFill>
              <a:srgbClr val="14121F"/>
            </a:solidFill>
            <a:prstDash val="solid"/>
          </a:ln>
          <a:effectLst>
            <a:outerShdw blurRad="101600" dist="76200" dir="2700000" algn="bl" rotWithShape="0">
              <a:srgbClr val="14121F">
                <a:alpha val="100000"/>
              </a:srgbClr>
            </a:outerShdw>
          </a:effectLst>
        </p:spPr>
        <p:txBody>
          <a:bodyPr/>
          <a:lstStyle/>
          <a:p>
            <a:endParaRPr lang="de-DE"/>
          </a:p>
        </p:txBody>
      </p:sp>
      <p:sp>
        <p:nvSpPr>
          <p:cNvPr id="13" name="Shape 11"/>
          <p:cNvSpPr/>
          <p:nvPr/>
        </p:nvSpPr>
        <p:spPr>
          <a:xfrm>
            <a:off x="4718304" y="2697480"/>
            <a:ext cx="658368" cy="658368"/>
          </a:xfrm>
          <a:prstGeom prst="roundRect">
            <a:avLst>
              <a:gd name="adj" fmla="val 13889"/>
            </a:avLst>
          </a:prstGeom>
          <a:solidFill>
            <a:srgbClr val="5B2EFF"/>
          </a:solidFill>
          <a:ln w="22225">
            <a:solidFill>
              <a:srgbClr val="14121F"/>
            </a:solidFill>
            <a:prstDash val="solid"/>
          </a:ln>
          <a:effectLst>
            <a:outerShdw blurRad="101600" dist="38100" dir="2700000" algn="bl" rotWithShape="0">
              <a:srgbClr val="14121F">
                <a:alpha val="100000"/>
              </a:srgbClr>
            </a:outerShdw>
          </a:effectLst>
        </p:spPr>
        <p:txBody>
          <a:bodyPr/>
          <a:lstStyle/>
          <a:p>
            <a:endParaRPr lang="de-DE"/>
          </a:p>
        </p:txBody>
      </p:sp>
      <p:sp>
        <p:nvSpPr>
          <p:cNvPr id="14" name="Text 12"/>
          <p:cNvSpPr/>
          <p:nvPr/>
        </p:nvSpPr>
        <p:spPr>
          <a:xfrm>
            <a:off x="4718304" y="2697480"/>
            <a:ext cx="658368" cy="658368"/>
          </a:xfrm>
          <a:prstGeom prst="rect">
            <a:avLst/>
          </a:prstGeom>
          <a:noFill/>
          <a:ln/>
        </p:spPr>
        <p:txBody>
          <a:bodyPr wrap="square" lIns="0" tIns="0" rIns="0" bIns="0" rtlCol="0" anchor="ctr"/>
          <a:lstStyle/>
          <a:p>
            <a:pPr marL="0" indent="0" algn="ctr">
              <a:buNone/>
            </a:pPr>
            <a:r>
              <a:rPr lang="en-US" sz="2600" b="1" dirty="0">
                <a:solidFill>
                  <a:srgbClr val="FFFFFF"/>
                </a:solidFill>
                <a:latin typeface="Space Grotesk" pitchFamily="34" charset="0"/>
                <a:ea typeface="Space Grotesk" pitchFamily="34" charset="-122"/>
                <a:cs typeface="Space Grotesk" pitchFamily="34" charset="-120"/>
              </a:rPr>
              <a:t>2</a:t>
            </a:r>
            <a:endParaRPr lang="en-US" sz="2600" dirty="0"/>
          </a:p>
        </p:txBody>
      </p:sp>
      <p:sp>
        <p:nvSpPr>
          <p:cNvPr id="15" name="Text 13"/>
          <p:cNvSpPr/>
          <p:nvPr/>
        </p:nvSpPr>
        <p:spPr>
          <a:xfrm>
            <a:off x="4718304" y="3520440"/>
            <a:ext cx="2651760" cy="457200"/>
          </a:xfrm>
          <a:prstGeom prst="rect">
            <a:avLst/>
          </a:prstGeom>
          <a:noFill/>
          <a:ln/>
        </p:spPr>
        <p:txBody>
          <a:bodyPr wrap="square" lIns="0" tIns="0" rIns="0" bIns="0" rtlCol="0" anchor="ctr"/>
          <a:lstStyle/>
          <a:p>
            <a:pPr marL="0" indent="0" algn="l">
              <a:buNone/>
            </a:pPr>
            <a:r>
              <a:rPr lang="en-US" sz="2000" b="1" dirty="0">
                <a:solidFill>
                  <a:srgbClr val="14121F"/>
                </a:solidFill>
                <a:latin typeface="Space Grotesk" pitchFamily="34" charset="0"/>
                <a:ea typeface="Space Grotesk" pitchFamily="34" charset="-122"/>
                <a:cs typeface="Space Grotesk" pitchFamily="34" charset="-120"/>
              </a:rPr>
              <a:t>Review &amp; Merge</a:t>
            </a:r>
            <a:endParaRPr lang="en-US" sz="2000" dirty="0"/>
          </a:p>
        </p:txBody>
      </p:sp>
      <p:sp>
        <p:nvSpPr>
          <p:cNvPr id="16" name="Text 14"/>
          <p:cNvSpPr/>
          <p:nvPr/>
        </p:nvSpPr>
        <p:spPr>
          <a:xfrm>
            <a:off x="4718304" y="4005072"/>
            <a:ext cx="2651760" cy="914400"/>
          </a:xfrm>
          <a:prstGeom prst="rect">
            <a:avLst/>
          </a:prstGeom>
          <a:noFill/>
          <a:ln/>
        </p:spPr>
        <p:txBody>
          <a:bodyPr wrap="square" lIns="0" tIns="0" rIns="0" bIns="0" rtlCol="0" anchor="ctr"/>
          <a:lstStyle/>
          <a:p>
            <a:pPr marL="0" indent="0" algn="l">
              <a:lnSpc>
                <a:spcPct val="118000"/>
              </a:lnSpc>
              <a:buNone/>
            </a:pPr>
            <a:r>
              <a:rPr lang="en-US" sz="1250" dirty="0">
                <a:solidFill>
                  <a:srgbClr val="6B6878"/>
                </a:solidFill>
                <a:latin typeface="Inter" pitchFamily="34" charset="0"/>
                <a:ea typeface="Inter" pitchFamily="34" charset="-122"/>
                <a:cs typeface="Inter" pitchFamily="34" charset="-120"/>
              </a:rPr>
              <a:t>Detect duplicates, fold in similar values, assign roles and names.</a:t>
            </a:r>
            <a:endParaRPr lang="en-US" sz="1250" dirty="0"/>
          </a:p>
        </p:txBody>
      </p:sp>
      <p:sp>
        <p:nvSpPr>
          <p:cNvPr id="17" name="Text 15"/>
          <p:cNvSpPr/>
          <p:nvPr/>
        </p:nvSpPr>
        <p:spPr>
          <a:xfrm>
            <a:off x="7744968" y="3017520"/>
            <a:ext cx="384048" cy="640080"/>
          </a:xfrm>
          <a:prstGeom prst="rect">
            <a:avLst/>
          </a:prstGeom>
          <a:noFill/>
          <a:ln/>
        </p:spPr>
        <p:txBody>
          <a:bodyPr wrap="square" lIns="0" tIns="0" rIns="0" bIns="0" rtlCol="0" anchor="ctr"/>
          <a:lstStyle/>
          <a:p>
            <a:pPr marL="0" indent="0" algn="ctr">
              <a:buNone/>
            </a:pPr>
            <a:r>
              <a:rPr lang="en-US" sz="2800" b="1" dirty="0">
                <a:solidFill>
                  <a:srgbClr val="14121F"/>
                </a:solidFill>
                <a:latin typeface="Space Grotesk" pitchFamily="34" charset="0"/>
                <a:ea typeface="Space Grotesk" pitchFamily="34" charset="-122"/>
                <a:cs typeface="Space Grotesk" pitchFamily="34" charset="-120"/>
              </a:rPr>
              <a:t>→</a:t>
            </a:r>
            <a:endParaRPr lang="en-US" sz="2800" dirty="0"/>
          </a:p>
        </p:txBody>
      </p:sp>
      <p:sp>
        <p:nvSpPr>
          <p:cNvPr id="18" name="Shape 16"/>
          <p:cNvSpPr/>
          <p:nvPr/>
        </p:nvSpPr>
        <p:spPr>
          <a:xfrm>
            <a:off x="8247888" y="2423160"/>
            <a:ext cx="3200400" cy="2514600"/>
          </a:xfrm>
          <a:prstGeom prst="roundRect">
            <a:avLst>
              <a:gd name="adj" fmla="val 5091"/>
            </a:avLst>
          </a:prstGeom>
          <a:solidFill>
            <a:srgbClr val="FFFFFF"/>
          </a:solidFill>
          <a:ln w="28575">
            <a:solidFill>
              <a:srgbClr val="14121F"/>
            </a:solidFill>
            <a:prstDash val="solid"/>
          </a:ln>
          <a:effectLst>
            <a:outerShdw blurRad="101600" dist="76200" dir="2700000" algn="bl" rotWithShape="0">
              <a:srgbClr val="14121F">
                <a:alpha val="100000"/>
              </a:srgbClr>
            </a:outerShdw>
          </a:effectLst>
        </p:spPr>
        <p:txBody>
          <a:bodyPr/>
          <a:lstStyle/>
          <a:p>
            <a:endParaRPr lang="de-DE"/>
          </a:p>
        </p:txBody>
      </p:sp>
      <p:sp>
        <p:nvSpPr>
          <p:cNvPr id="19" name="Shape 17"/>
          <p:cNvSpPr/>
          <p:nvPr/>
        </p:nvSpPr>
        <p:spPr>
          <a:xfrm>
            <a:off x="8522208" y="2697480"/>
            <a:ext cx="658368" cy="658368"/>
          </a:xfrm>
          <a:prstGeom prst="roundRect">
            <a:avLst>
              <a:gd name="adj" fmla="val 13889"/>
            </a:avLst>
          </a:prstGeom>
          <a:solidFill>
            <a:srgbClr val="5B2EFF"/>
          </a:solidFill>
          <a:ln w="22225">
            <a:solidFill>
              <a:srgbClr val="14121F"/>
            </a:solidFill>
            <a:prstDash val="solid"/>
          </a:ln>
          <a:effectLst>
            <a:outerShdw blurRad="101600" dist="38100" dir="2700000" algn="bl" rotWithShape="0">
              <a:srgbClr val="14121F">
                <a:alpha val="100000"/>
              </a:srgbClr>
            </a:outerShdw>
          </a:effectLst>
        </p:spPr>
        <p:txBody>
          <a:bodyPr/>
          <a:lstStyle/>
          <a:p>
            <a:endParaRPr lang="de-DE"/>
          </a:p>
        </p:txBody>
      </p:sp>
      <p:sp>
        <p:nvSpPr>
          <p:cNvPr id="20" name="Text 18"/>
          <p:cNvSpPr/>
          <p:nvPr/>
        </p:nvSpPr>
        <p:spPr>
          <a:xfrm>
            <a:off x="8522208" y="2697480"/>
            <a:ext cx="658368" cy="658368"/>
          </a:xfrm>
          <a:prstGeom prst="rect">
            <a:avLst/>
          </a:prstGeom>
          <a:noFill/>
          <a:ln/>
        </p:spPr>
        <p:txBody>
          <a:bodyPr wrap="square" lIns="0" tIns="0" rIns="0" bIns="0" rtlCol="0" anchor="ctr"/>
          <a:lstStyle/>
          <a:p>
            <a:pPr marL="0" indent="0" algn="ctr">
              <a:buNone/>
            </a:pPr>
            <a:r>
              <a:rPr lang="en-US" sz="2600" b="1" dirty="0">
                <a:solidFill>
                  <a:srgbClr val="FFFFFF"/>
                </a:solidFill>
                <a:latin typeface="Space Grotesk" pitchFamily="34" charset="0"/>
                <a:ea typeface="Space Grotesk" pitchFamily="34" charset="-122"/>
                <a:cs typeface="Space Grotesk" pitchFamily="34" charset="-120"/>
              </a:rPr>
              <a:t>3</a:t>
            </a:r>
            <a:endParaRPr lang="en-US" sz="2600" dirty="0"/>
          </a:p>
        </p:txBody>
      </p:sp>
      <p:sp>
        <p:nvSpPr>
          <p:cNvPr id="21" name="Text 19"/>
          <p:cNvSpPr/>
          <p:nvPr/>
        </p:nvSpPr>
        <p:spPr>
          <a:xfrm>
            <a:off x="8522208" y="3520440"/>
            <a:ext cx="2651760" cy="457200"/>
          </a:xfrm>
          <a:prstGeom prst="rect">
            <a:avLst/>
          </a:prstGeom>
          <a:noFill/>
          <a:ln/>
        </p:spPr>
        <p:txBody>
          <a:bodyPr wrap="square" lIns="0" tIns="0" rIns="0" bIns="0" rtlCol="0" anchor="ctr"/>
          <a:lstStyle/>
          <a:p>
            <a:pPr marL="0" indent="0" algn="l">
              <a:buNone/>
            </a:pPr>
            <a:r>
              <a:rPr lang="en-US" sz="2000" b="1" dirty="0">
                <a:solidFill>
                  <a:srgbClr val="14121F"/>
                </a:solidFill>
                <a:latin typeface="Space Grotesk" pitchFamily="34" charset="0"/>
                <a:ea typeface="Space Grotesk" pitchFamily="34" charset="-122"/>
                <a:cs typeface="Space Grotesk" pitchFamily="34" charset="-120"/>
              </a:rPr>
              <a:t>Export</a:t>
            </a:r>
            <a:endParaRPr lang="en-US" sz="2000" dirty="0"/>
          </a:p>
        </p:txBody>
      </p:sp>
      <p:sp>
        <p:nvSpPr>
          <p:cNvPr id="22" name="Text 20"/>
          <p:cNvSpPr/>
          <p:nvPr/>
        </p:nvSpPr>
        <p:spPr>
          <a:xfrm>
            <a:off x="8522208" y="4005072"/>
            <a:ext cx="2651760" cy="914400"/>
          </a:xfrm>
          <a:prstGeom prst="rect">
            <a:avLst/>
          </a:prstGeom>
          <a:noFill/>
          <a:ln/>
        </p:spPr>
        <p:txBody>
          <a:bodyPr wrap="square" lIns="0" tIns="0" rIns="0" bIns="0" rtlCol="0" anchor="ctr"/>
          <a:lstStyle/>
          <a:p>
            <a:pPr marL="0" indent="0" algn="l">
              <a:lnSpc>
                <a:spcPct val="118000"/>
              </a:lnSpc>
              <a:buNone/>
            </a:pPr>
            <a:r>
              <a:rPr lang="en-US" sz="1250" dirty="0">
                <a:solidFill>
                  <a:srgbClr val="6B6878"/>
                </a:solidFill>
                <a:latin typeface="Inter" pitchFamily="34" charset="0"/>
                <a:ea typeface="Inter" pitchFamily="34" charset="-122"/>
                <a:cs typeface="Inter" pitchFamily="34" charset="-120"/>
              </a:rPr>
              <a:t>As design.md for AI tools — and back into Figma as Styles &amp; Variables.</a:t>
            </a:r>
            <a:endParaRPr lang="en-US" sz="1250" dirty="0"/>
          </a:p>
        </p:txBody>
      </p:sp>
      <p:sp>
        <p:nvSpPr>
          <p:cNvPr id="23" name="Text 21"/>
          <p:cNvSpPr/>
          <p:nvPr/>
        </p:nvSpPr>
        <p:spPr>
          <a:xfrm>
            <a:off x="640080" y="5303520"/>
            <a:ext cx="2743200" cy="365760"/>
          </a:xfrm>
          <a:prstGeom prst="rect">
            <a:avLst/>
          </a:prstGeom>
          <a:noFill/>
          <a:ln/>
        </p:spPr>
        <p:txBody>
          <a:bodyPr wrap="square" lIns="0" tIns="0" rIns="0" bIns="0" rtlCol="0" anchor="ctr"/>
          <a:lstStyle/>
          <a:p>
            <a:pPr marL="0" indent="0" algn="l">
              <a:buNone/>
            </a:pPr>
            <a:r>
              <a:rPr lang="en-US" sz="1500" b="1" dirty="0">
                <a:solidFill>
                  <a:srgbClr val="14121F"/>
                </a:solidFill>
                <a:latin typeface="Space Grotesk" pitchFamily="34" charset="0"/>
                <a:ea typeface="Space Grotesk" pitchFamily="34" charset="-122"/>
                <a:cs typeface="Space Grotesk" pitchFamily="34" charset="-120"/>
              </a:rPr>
              <a:t>Two outputs</a:t>
            </a:r>
            <a:endParaRPr lang="en-US" sz="1500" dirty="0"/>
          </a:p>
        </p:txBody>
      </p:sp>
      <p:sp>
        <p:nvSpPr>
          <p:cNvPr id="24" name="Shape 22"/>
          <p:cNvSpPr/>
          <p:nvPr/>
        </p:nvSpPr>
        <p:spPr>
          <a:xfrm>
            <a:off x="640080" y="5715000"/>
            <a:ext cx="3108960" cy="457200"/>
          </a:xfrm>
          <a:prstGeom prst="roundRect">
            <a:avLst>
              <a:gd name="adj" fmla="val 40000"/>
            </a:avLst>
          </a:prstGeom>
          <a:solidFill>
            <a:srgbClr val="FFFFFF"/>
          </a:solidFill>
          <a:ln w="22225">
            <a:solidFill>
              <a:srgbClr val="14121F"/>
            </a:solidFill>
            <a:prstDash val="solid"/>
          </a:ln>
          <a:effectLst>
            <a:outerShdw blurRad="101600" dist="38100" dir="2700000" algn="bl" rotWithShape="0">
              <a:srgbClr val="14121F">
                <a:alpha val="100000"/>
              </a:srgbClr>
            </a:outerShdw>
          </a:effectLst>
        </p:spPr>
        <p:txBody>
          <a:bodyPr/>
          <a:lstStyle/>
          <a:p>
            <a:endParaRPr lang="de-DE"/>
          </a:p>
        </p:txBody>
      </p:sp>
      <p:sp>
        <p:nvSpPr>
          <p:cNvPr id="25" name="Text 23"/>
          <p:cNvSpPr/>
          <p:nvPr/>
        </p:nvSpPr>
        <p:spPr>
          <a:xfrm>
            <a:off x="640080" y="5715000"/>
            <a:ext cx="3108960" cy="457200"/>
          </a:xfrm>
          <a:prstGeom prst="rect">
            <a:avLst/>
          </a:prstGeom>
          <a:noFill/>
          <a:ln/>
        </p:spPr>
        <p:txBody>
          <a:bodyPr wrap="square" lIns="0" tIns="0" rIns="0" bIns="0" rtlCol="0" anchor="ctr"/>
          <a:lstStyle/>
          <a:p>
            <a:pPr marL="0" indent="0" algn="ctr">
              <a:buNone/>
            </a:pPr>
            <a:r>
              <a:rPr lang="en-US" sz="1100" b="1" dirty="0">
                <a:solidFill>
                  <a:srgbClr val="14121F"/>
                </a:solidFill>
                <a:latin typeface="JetBrains Mono" pitchFamily="34" charset="0"/>
                <a:ea typeface="JetBrains Mono" pitchFamily="34" charset="-122"/>
                <a:cs typeface="JetBrains Mono" pitchFamily="34" charset="-120"/>
              </a:rPr>
              <a:t>design.md  →  AI coding tools</a:t>
            </a:r>
            <a:endParaRPr lang="en-US" sz="1100" dirty="0"/>
          </a:p>
        </p:txBody>
      </p:sp>
      <p:sp>
        <p:nvSpPr>
          <p:cNvPr id="26" name="Shape 24"/>
          <p:cNvSpPr/>
          <p:nvPr/>
        </p:nvSpPr>
        <p:spPr>
          <a:xfrm>
            <a:off x="4206240" y="5715000"/>
            <a:ext cx="3017520" cy="457200"/>
          </a:xfrm>
          <a:prstGeom prst="roundRect">
            <a:avLst>
              <a:gd name="adj" fmla="val 40000"/>
            </a:avLst>
          </a:prstGeom>
          <a:solidFill>
            <a:srgbClr val="FFFFFF"/>
          </a:solidFill>
          <a:ln w="22225">
            <a:solidFill>
              <a:srgbClr val="14121F"/>
            </a:solidFill>
            <a:prstDash val="solid"/>
          </a:ln>
          <a:effectLst>
            <a:outerShdw blurRad="101600" dist="38100" dir="2700000" algn="bl" rotWithShape="0">
              <a:srgbClr val="14121F">
                <a:alpha val="100000"/>
              </a:srgbClr>
            </a:outerShdw>
          </a:effectLst>
        </p:spPr>
        <p:txBody>
          <a:bodyPr/>
          <a:lstStyle/>
          <a:p>
            <a:endParaRPr lang="de-DE"/>
          </a:p>
        </p:txBody>
      </p:sp>
      <p:sp>
        <p:nvSpPr>
          <p:cNvPr id="27" name="Text 25"/>
          <p:cNvSpPr/>
          <p:nvPr/>
        </p:nvSpPr>
        <p:spPr>
          <a:xfrm>
            <a:off x="4206240" y="5715000"/>
            <a:ext cx="3017520" cy="457200"/>
          </a:xfrm>
          <a:prstGeom prst="rect">
            <a:avLst/>
          </a:prstGeom>
          <a:noFill/>
          <a:ln/>
        </p:spPr>
        <p:txBody>
          <a:bodyPr wrap="square" lIns="0" tIns="0" rIns="0" bIns="0" rtlCol="0" anchor="ctr"/>
          <a:lstStyle/>
          <a:p>
            <a:pPr marL="0" indent="0" algn="ctr">
              <a:buNone/>
            </a:pPr>
            <a:r>
              <a:rPr lang="en-US" sz="1100" b="1" dirty="0">
                <a:solidFill>
                  <a:srgbClr val="14121F"/>
                </a:solidFill>
                <a:latin typeface="JetBrains Mono" pitchFamily="34" charset="0"/>
                <a:ea typeface="JetBrains Mono" pitchFamily="34" charset="-122"/>
                <a:cs typeface="JetBrains Mono" pitchFamily="34" charset="-120"/>
              </a:rPr>
              <a:t>Figma Styles + Variables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640080" y="384048"/>
            <a:ext cx="3657600" cy="365760"/>
          </a:xfrm>
          <a:prstGeom prst="rect">
            <a:avLst/>
          </a:prstGeom>
          <a:noFill/>
          <a:ln/>
        </p:spPr>
        <p:txBody>
          <a:bodyPr wrap="square" lIns="0" tIns="0" rIns="0" bIns="0" rtlCol="0" anchor="ctr"/>
          <a:lstStyle/>
          <a:p>
            <a:pPr marL="0" indent="0" algn="l">
              <a:buNone/>
            </a:pPr>
            <a:r>
              <a:rPr lang="en-US" sz="1800" b="1" dirty="0">
                <a:solidFill>
                  <a:srgbClr val="14121F"/>
                </a:solidFill>
                <a:latin typeface="Space Grotesk" pitchFamily="34" charset="0"/>
                <a:ea typeface="Space Grotesk" pitchFamily="34" charset="-122"/>
                <a:cs typeface="Space Grotesk" pitchFamily="34" charset="-120"/>
              </a:rPr>
              <a:t>Style</a:t>
            </a:r>
            <a:r>
              <a:rPr lang="en-US" sz="1800" b="1" dirty="0">
                <a:solidFill>
                  <a:srgbClr val="5B2EFF"/>
                </a:solidFill>
                <a:latin typeface="Space Grotesk" pitchFamily="34" charset="0"/>
                <a:ea typeface="Space Grotesk" pitchFamily="34" charset="-122"/>
                <a:cs typeface="Space Grotesk" pitchFamily="34" charset="-120"/>
              </a:rPr>
              <a:t>Snap</a:t>
            </a:r>
            <a:endParaRPr lang="en-US" sz="1800" dirty="0"/>
          </a:p>
        </p:txBody>
      </p:sp>
      <p:sp>
        <p:nvSpPr>
          <p:cNvPr id="3" name="Text 1"/>
          <p:cNvSpPr/>
          <p:nvPr/>
        </p:nvSpPr>
        <p:spPr>
          <a:xfrm>
            <a:off x="10561320" y="420624"/>
            <a:ext cx="1005840" cy="292608"/>
          </a:xfrm>
          <a:prstGeom prst="rect">
            <a:avLst/>
          </a:prstGeom>
          <a:noFill/>
          <a:ln/>
        </p:spPr>
        <p:txBody>
          <a:bodyPr wrap="square" lIns="0" tIns="0" rIns="0" bIns="0" rtlCol="0" anchor="ctr"/>
          <a:lstStyle/>
          <a:p>
            <a:pPr marL="0" indent="0" algn="r">
              <a:buNone/>
            </a:pPr>
            <a:r>
              <a:rPr lang="en-US" sz="1000" dirty="0">
                <a:solidFill>
                  <a:srgbClr val="6B6878"/>
                </a:solidFill>
                <a:latin typeface="JetBrains Mono" pitchFamily="34" charset="0"/>
                <a:ea typeface="JetBrains Mono" pitchFamily="34" charset="-122"/>
                <a:cs typeface="JetBrains Mono" pitchFamily="34" charset="-120"/>
              </a:rPr>
              <a:t>06 / 08</a:t>
            </a:r>
            <a:endParaRPr lang="en-US" sz="1000" dirty="0"/>
          </a:p>
        </p:txBody>
      </p:sp>
      <p:sp>
        <p:nvSpPr>
          <p:cNvPr id="4" name="Text 2"/>
          <p:cNvSpPr/>
          <p:nvPr/>
        </p:nvSpPr>
        <p:spPr>
          <a:xfrm>
            <a:off x="621792" y="960120"/>
            <a:ext cx="10972800" cy="914400"/>
          </a:xfrm>
          <a:prstGeom prst="rect">
            <a:avLst/>
          </a:prstGeom>
          <a:noFill/>
          <a:ln/>
        </p:spPr>
        <p:txBody>
          <a:bodyPr wrap="square" lIns="0" tIns="0" rIns="0" bIns="0" rtlCol="0" anchor="ctr"/>
          <a:lstStyle/>
          <a:p>
            <a:pPr marL="0" indent="0" algn="l">
              <a:buNone/>
            </a:pPr>
            <a:r>
              <a:rPr lang="en-US" sz="5200" b="1" dirty="0">
                <a:solidFill>
                  <a:srgbClr val="14121F"/>
                </a:solidFill>
                <a:latin typeface="Space Grotesk" pitchFamily="34" charset="0"/>
                <a:ea typeface="Space Grotesk" pitchFamily="34" charset="-122"/>
                <a:cs typeface="Space Grotesk" pitchFamily="34" charset="-120"/>
              </a:rPr>
              <a:t>The round-trip in action</a:t>
            </a:r>
            <a:endParaRPr lang="en-US" sz="5200" dirty="0"/>
          </a:p>
        </p:txBody>
      </p:sp>
      <p:sp>
        <p:nvSpPr>
          <p:cNvPr id="5" name="Text 3"/>
          <p:cNvSpPr/>
          <p:nvPr/>
        </p:nvSpPr>
        <p:spPr>
          <a:xfrm>
            <a:off x="640080" y="1738306"/>
            <a:ext cx="10789920" cy="457200"/>
          </a:xfrm>
          <a:prstGeom prst="rect">
            <a:avLst/>
          </a:prstGeom>
          <a:noFill/>
          <a:ln/>
        </p:spPr>
        <p:txBody>
          <a:bodyPr wrap="square" lIns="0" tIns="0" rIns="0" bIns="0" rtlCol="0" anchor="ctr"/>
          <a:lstStyle/>
          <a:p>
            <a:pPr marL="0" indent="0" algn="l">
              <a:buNone/>
            </a:pPr>
            <a:r>
              <a:rPr lang="en-US" sz="1500" dirty="0">
                <a:solidFill>
                  <a:srgbClr val="6B6878"/>
                </a:solidFill>
                <a:latin typeface="Inter" pitchFamily="34" charset="0"/>
                <a:ea typeface="Inter" pitchFamily="34" charset="-122"/>
                <a:cs typeface="Inter" pitchFamily="34" charset="-120"/>
              </a:rPr>
              <a:t>A real weather-app screen → extracted tokens → back as Figma styles.</a:t>
            </a:r>
            <a:endParaRPr lang="en-US" sz="1500" dirty="0"/>
          </a:p>
        </p:txBody>
      </p:sp>
      <p:sp>
        <p:nvSpPr>
          <p:cNvPr id="6" name="Shape 4"/>
          <p:cNvSpPr/>
          <p:nvPr/>
        </p:nvSpPr>
        <p:spPr>
          <a:xfrm>
            <a:off x="640080" y="2423160"/>
            <a:ext cx="3200400" cy="3429000"/>
          </a:xfrm>
          <a:prstGeom prst="roundRect">
            <a:avLst>
              <a:gd name="adj" fmla="val 4000"/>
            </a:avLst>
          </a:prstGeom>
          <a:solidFill>
            <a:srgbClr val="FFFFFF"/>
          </a:solidFill>
          <a:ln w="28575">
            <a:solidFill>
              <a:srgbClr val="14121F"/>
            </a:solidFill>
            <a:prstDash val="solid"/>
          </a:ln>
          <a:effectLst>
            <a:outerShdw blurRad="101600" dist="76200" dir="2700000" algn="bl" rotWithShape="0">
              <a:srgbClr val="14121F">
                <a:alpha val="100000"/>
              </a:srgbClr>
            </a:outerShdw>
          </a:effectLst>
        </p:spPr>
        <p:txBody>
          <a:bodyPr/>
          <a:lstStyle/>
          <a:p>
            <a:endParaRPr lang="de-DE"/>
          </a:p>
        </p:txBody>
      </p:sp>
      <p:sp>
        <p:nvSpPr>
          <p:cNvPr id="7" name="Text 5"/>
          <p:cNvSpPr/>
          <p:nvPr/>
        </p:nvSpPr>
        <p:spPr>
          <a:xfrm>
            <a:off x="960120" y="2615184"/>
            <a:ext cx="2697480" cy="365760"/>
          </a:xfrm>
          <a:prstGeom prst="rect">
            <a:avLst/>
          </a:prstGeom>
          <a:noFill/>
          <a:ln/>
        </p:spPr>
        <p:txBody>
          <a:bodyPr wrap="square" lIns="0" tIns="0" rIns="0" bIns="0" rtlCol="0" anchor="ctr"/>
          <a:lstStyle/>
          <a:p>
            <a:pPr marL="0" indent="0" algn="l">
              <a:buNone/>
            </a:pPr>
            <a:r>
              <a:rPr lang="en-US" sz="1100" b="1" dirty="0">
                <a:solidFill>
                  <a:srgbClr val="5B2EFF"/>
                </a:solidFill>
                <a:latin typeface="JetBrains Mono" pitchFamily="34" charset="0"/>
                <a:ea typeface="JetBrains Mono" pitchFamily="34" charset="-122"/>
                <a:cs typeface="JetBrains Mono" pitchFamily="34" charset="-120"/>
              </a:rPr>
              <a:t>1 · Source screen</a:t>
            </a:r>
            <a:endParaRPr lang="en-US" sz="1100" dirty="0"/>
          </a:p>
        </p:txBody>
      </p:sp>
      <p:sp>
        <p:nvSpPr>
          <p:cNvPr id="8" name="Shape 6"/>
          <p:cNvSpPr/>
          <p:nvPr/>
        </p:nvSpPr>
        <p:spPr>
          <a:xfrm>
            <a:off x="4434840" y="2423160"/>
            <a:ext cx="3200400" cy="3429000"/>
          </a:xfrm>
          <a:prstGeom prst="roundRect">
            <a:avLst>
              <a:gd name="adj" fmla="val 4000"/>
            </a:avLst>
          </a:prstGeom>
          <a:solidFill>
            <a:srgbClr val="FFFFFF"/>
          </a:solidFill>
          <a:ln w="28575">
            <a:solidFill>
              <a:srgbClr val="14121F"/>
            </a:solidFill>
            <a:prstDash val="solid"/>
          </a:ln>
          <a:effectLst>
            <a:outerShdw blurRad="101600" dist="76200" dir="2700000" algn="bl" rotWithShape="0">
              <a:srgbClr val="14121F">
                <a:alpha val="100000"/>
              </a:srgbClr>
            </a:outerShdw>
          </a:effectLst>
        </p:spPr>
        <p:txBody>
          <a:bodyPr/>
          <a:lstStyle/>
          <a:p>
            <a:endParaRPr lang="de-DE"/>
          </a:p>
        </p:txBody>
      </p:sp>
      <p:sp>
        <p:nvSpPr>
          <p:cNvPr id="9" name="Text 7"/>
          <p:cNvSpPr/>
          <p:nvPr/>
        </p:nvSpPr>
        <p:spPr>
          <a:xfrm>
            <a:off x="4686300" y="2626535"/>
            <a:ext cx="2697480" cy="365760"/>
          </a:xfrm>
          <a:prstGeom prst="rect">
            <a:avLst/>
          </a:prstGeom>
          <a:noFill/>
          <a:ln/>
        </p:spPr>
        <p:txBody>
          <a:bodyPr wrap="square" lIns="0" tIns="0" rIns="0" bIns="0" rtlCol="0" anchor="ctr"/>
          <a:lstStyle/>
          <a:p>
            <a:pPr marL="0" indent="0" algn="l">
              <a:buNone/>
            </a:pPr>
            <a:r>
              <a:rPr lang="en-US" sz="1100" b="1" dirty="0">
                <a:solidFill>
                  <a:srgbClr val="5B2EFF"/>
                </a:solidFill>
                <a:latin typeface="JetBrains Mono" pitchFamily="34" charset="0"/>
                <a:ea typeface="JetBrains Mono" pitchFamily="34" charset="-122"/>
                <a:cs typeface="JetBrains Mono" pitchFamily="34" charset="-120"/>
              </a:rPr>
              <a:t>2 · Extracted tokens</a:t>
            </a:r>
            <a:endParaRPr lang="en-US" sz="1100" dirty="0"/>
          </a:p>
        </p:txBody>
      </p:sp>
      <p:sp>
        <p:nvSpPr>
          <p:cNvPr id="10" name="Shape 8"/>
          <p:cNvSpPr/>
          <p:nvPr/>
        </p:nvSpPr>
        <p:spPr>
          <a:xfrm>
            <a:off x="8238744" y="2423160"/>
            <a:ext cx="3200400" cy="3429000"/>
          </a:xfrm>
          <a:prstGeom prst="roundRect">
            <a:avLst>
              <a:gd name="adj" fmla="val 4000"/>
            </a:avLst>
          </a:prstGeom>
          <a:solidFill>
            <a:srgbClr val="FFFFFF"/>
          </a:solidFill>
          <a:ln w="28575">
            <a:solidFill>
              <a:srgbClr val="14121F"/>
            </a:solidFill>
            <a:prstDash val="solid"/>
          </a:ln>
          <a:effectLst>
            <a:outerShdw blurRad="101600" dist="76200" dir="2700000" algn="bl" rotWithShape="0">
              <a:srgbClr val="14121F">
                <a:alpha val="100000"/>
              </a:srgbClr>
            </a:outerShdw>
          </a:effectLst>
        </p:spPr>
        <p:txBody>
          <a:bodyPr/>
          <a:lstStyle/>
          <a:p>
            <a:endParaRPr lang="de-DE"/>
          </a:p>
        </p:txBody>
      </p:sp>
      <p:sp>
        <p:nvSpPr>
          <p:cNvPr id="11" name="Text 9"/>
          <p:cNvSpPr/>
          <p:nvPr/>
        </p:nvSpPr>
        <p:spPr>
          <a:xfrm>
            <a:off x="8490204" y="2626535"/>
            <a:ext cx="2697480" cy="365760"/>
          </a:xfrm>
          <a:prstGeom prst="rect">
            <a:avLst/>
          </a:prstGeom>
          <a:noFill/>
          <a:ln/>
        </p:spPr>
        <p:txBody>
          <a:bodyPr wrap="square" lIns="0" tIns="0" rIns="0" bIns="0" rtlCol="0" anchor="ctr"/>
          <a:lstStyle/>
          <a:p>
            <a:pPr marL="0" indent="0" algn="l">
              <a:buNone/>
            </a:pPr>
            <a:r>
              <a:rPr lang="en-US" sz="1100" b="1" dirty="0">
                <a:solidFill>
                  <a:srgbClr val="5B2EFF"/>
                </a:solidFill>
                <a:latin typeface="JetBrains Mono" pitchFamily="34" charset="0"/>
                <a:ea typeface="JetBrains Mono" pitchFamily="34" charset="-122"/>
                <a:cs typeface="JetBrains Mono" pitchFamily="34" charset="-120"/>
              </a:rPr>
              <a:t>3 · Back in Figma</a:t>
            </a:r>
            <a:endParaRPr lang="en-US" sz="1100" dirty="0"/>
          </a:p>
        </p:txBody>
      </p:sp>
      <p:sp>
        <p:nvSpPr>
          <p:cNvPr id="12" name="Shape 10"/>
          <p:cNvSpPr/>
          <p:nvPr/>
        </p:nvSpPr>
        <p:spPr>
          <a:xfrm>
            <a:off x="960120" y="3127248"/>
            <a:ext cx="2560320" cy="2606040"/>
          </a:xfrm>
          <a:prstGeom prst="roundRect">
            <a:avLst>
              <a:gd name="adj" fmla="val 4286"/>
            </a:avLst>
          </a:prstGeom>
          <a:solidFill>
            <a:srgbClr val="3A1D6E"/>
          </a:solidFill>
          <a:ln w="22225">
            <a:solidFill>
              <a:srgbClr val="14121F"/>
            </a:solidFill>
            <a:prstDash val="solid"/>
          </a:ln>
        </p:spPr>
        <p:txBody>
          <a:bodyPr/>
          <a:lstStyle/>
          <a:p>
            <a:endParaRPr lang="de-DE"/>
          </a:p>
        </p:txBody>
      </p:sp>
      <p:sp>
        <p:nvSpPr>
          <p:cNvPr id="13" name="Text 11"/>
          <p:cNvSpPr/>
          <p:nvPr/>
        </p:nvSpPr>
        <p:spPr>
          <a:xfrm>
            <a:off x="960120" y="3200400"/>
            <a:ext cx="256032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Space Grotesk" pitchFamily="34" charset="0"/>
                <a:ea typeface="Space Grotesk" pitchFamily="34" charset="-122"/>
                <a:cs typeface="Space Grotesk" pitchFamily="34" charset="-120"/>
              </a:rPr>
              <a:t>7 Days</a:t>
            </a:r>
            <a:endParaRPr lang="en-US" sz="1000" dirty="0"/>
          </a:p>
        </p:txBody>
      </p:sp>
      <p:sp>
        <p:nvSpPr>
          <p:cNvPr id="14" name="Shape 12"/>
          <p:cNvSpPr/>
          <p:nvPr/>
        </p:nvSpPr>
        <p:spPr>
          <a:xfrm>
            <a:off x="1097280" y="3520440"/>
            <a:ext cx="2286000" cy="914400"/>
          </a:xfrm>
          <a:prstGeom prst="roundRect">
            <a:avLst>
              <a:gd name="adj" fmla="val 9000"/>
            </a:avLst>
          </a:prstGeom>
          <a:solidFill>
            <a:srgbClr val="5A4A9E"/>
          </a:solidFill>
          <a:ln w="12700">
            <a:solidFill>
              <a:srgbClr val="5A4A9E"/>
            </a:solidFill>
            <a:prstDash val="solid"/>
          </a:ln>
        </p:spPr>
        <p:txBody>
          <a:bodyPr/>
          <a:lstStyle/>
          <a:p>
            <a:endParaRPr lang="de-DE"/>
          </a:p>
        </p:txBody>
      </p:sp>
      <p:sp>
        <p:nvSpPr>
          <p:cNvPr id="15" name="Shape 13"/>
          <p:cNvSpPr/>
          <p:nvPr/>
        </p:nvSpPr>
        <p:spPr>
          <a:xfrm>
            <a:off x="1234440" y="3675888"/>
            <a:ext cx="292608" cy="292608"/>
          </a:xfrm>
          <a:prstGeom prst="ellipse">
            <a:avLst/>
          </a:prstGeom>
          <a:solidFill>
            <a:srgbClr val="FBC02D"/>
          </a:solidFill>
          <a:ln w="12700">
            <a:solidFill>
              <a:srgbClr val="FBC02D"/>
            </a:solidFill>
            <a:prstDash val="solid"/>
          </a:ln>
        </p:spPr>
        <p:txBody>
          <a:bodyPr/>
          <a:lstStyle/>
          <a:p>
            <a:endParaRPr lang="de-DE"/>
          </a:p>
        </p:txBody>
      </p:sp>
      <p:sp>
        <p:nvSpPr>
          <p:cNvPr id="16" name="Shape 14"/>
          <p:cNvSpPr/>
          <p:nvPr/>
        </p:nvSpPr>
        <p:spPr>
          <a:xfrm>
            <a:off x="1399032" y="3803904"/>
            <a:ext cx="566928" cy="329184"/>
          </a:xfrm>
          <a:prstGeom prst="ellipse">
            <a:avLst/>
          </a:prstGeom>
          <a:solidFill>
            <a:srgbClr val="FFFFFF"/>
          </a:solidFill>
          <a:ln w="12700">
            <a:solidFill>
              <a:srgbClr val="FFFFFF"/>
            </a:solidFill>
            <a:prstDash val="solid"/>
          </a:ln>
        </p:spPr>
        <p:txBody>
          <a:bodyPr/>
          <a:lstStyle/>
          <a:p>
            <a:endParaRPr lang="de-DE"/>
          </a:p>
        </p:txBody>
      </p:sp>
      <p:sp>
        <p:nvSpPr>
          <p:cNvPr id="17" name="Text 15"/>
          <p:cNvSpPr/>
          <p:nvPr/>
        </p:nvSpPr>
        <p:spPr>
          <a:xfrm>
            <a:off x="2011680" y="3611880"/>
            <a:ext cx="1371600" cy="731520"/>
          </a:xfrm>
          <a:prstGeom prst="rect">
            <a:avLst/>
          </a:prstGeom>
          <a:noFill/>
          <a:ln/>
        </p:spPr>
        <p:txBody>
          <a:bodyPr wrap="square" lIns="0" tIns="0" rIns="0" bIns="0" rtlCol="0" anchor="ctr"/>
          <a:lstStyle/>
          <a:p>
            <a:pPr marL="0" indent="0" algn="ctr">
              <a:buNone/>
            </a:pPr>
            <a:r>
              <a:rPr lang="en-US" sz="1700" b="1" dirty="0">
                <a:solidFill>
                  <a:srgbClr val="FFFFFF"/>
                </a:solidFill>
                <a:latin typeface="Space Grotesk" pitchFamily="34" charset="0"/>
                <a:ea typeface="Space Grotesk" pitchFamily="34" charset="-122"/>
                <a:cs typeface="Space Grotesk" pitchFamily="34" charset="-120"/>
              </a:rPr>
              <a:t>23°</a:t>
            </a:r>
            <a:r>
              <a:rPr lang="en-US" sz="1100" dirty="0">
                <a:solidFill>
                  <a:srgbClr val="B0A8D0"/>
                </a:solidFill>
                <a:latin typeface="Space Grotesk" pitchFamily="34" charset="0"/>
                <a:ea typeface="Space Grotesk" pitchFamily="34" charset="-122"/>
                <a:cs typeface="Space Grotesk" pitchFamily="34" charset="-120"/>
              </a:rPr>
              <a:t> / 17°</a:t>
            </a:r>
            <a:endParaRPr lang="en-US" sz="1700" dirty="0"/>
          </a:p>
        </p:txBody>
      </p:sp>
      <p:sp>
        <p:nvSpPr>
          <p:cNvPr id="18" name="Text 16"/>
          <p:cNvSpPr/>
          <p:nvPr/>
        </p:nvSpPr>
        <p:spPr>
          <a:xfrm>
            <a:off x="960120" y="4553712"/>
            <a:ext cx="2560320" cy="237744"/>
          </a:xfrm>
          <a:prstGeom prst="rect">
            <a:avLst/>
          </a:prstGeom>
          <a:noFill/>
          <a:ln/>
        </p:spPr>
        <p:txBody>
          <a:bodyPr wrap="square" lIns="0" tIns="0" rIns="0" bIns="0" rtlCol="0" anchor="ctr"/>
          <a:lstStyle/>
          <a:p>
            <a:pPr marL="0" indent="0" algn="ctr">
              <a:buNone/>
            </a:pPr>
            <a:r>
              <a:rPr lang="en-US" sz="750" dirty="0">
                <a:solidFill>
                  <a:srgbClr val="B0A8D0"/>
                </a:solidFill>
                <a:latin typeface="Inter" pitchFamily="34" charset="0"/>
                <a:ea typeface="Inter" pitchFamily="34" charset="-122"/>
                <a:cs typeface="Inter" pitchFamily="34" charset="-120"/>
              </a:rPr>
              <a:t>30% Precip   ·   20% Humid   ·   9 km/h</a:t>
            </a:r>
            <a:endParaRPr lang="en-US" sz="750" dirty="0"/>
          </a:p>
        </p:txBody>
      </p:sp>
      <p:sp>
        <p:nvSpPr>
          <p:cNvPr id="19" name="Text 17"/>
          <p:cNvSpPr/>
          <p:nvPr/>
        </p:nvSpPr>
        <p:spPr>
          <a:xfrm>
            <a:off x="1124712" y="4892040"/>
            <a:ext cx="548640" cy="237744"/>
          </a:xfrm>
          <a:prstGeom prst="rect">
            <a:avLst/>
          </a:prstGeom>
          <a:noFill/>
          <a:ln/>
        </p:spPr>
        <p:txBody>
          <a:bodyPr wrap="square" lIns="0" tIns="0" rIns="0" bIns="0" rtlCol="0" anchor="ctr"/>
          <a:lstStyle/>
          <a:p>
            <a:pPr marL="0" indent="0" algn="l">
              <a:buNone/>
            </a:pPr>
            <a:r>
              <a:rPr lang="en-US" sz="850" b="1" dirty="0">
                <a:solidFill>
                  <a:srgbClr val="FFFFFF"/>
                </a:solidFill>
                <a:latin typeface="Inter" pitchFamily="34" charset="0"/>
                <a:ea typeface="Inter" pitchFamily="34" charset="-122"/>
                <a:cs typeface="Inter" pitchFamily="34" charset="-120"/>
              </a:rPr>
              <a:t>Mon</a:t>
            </a:r>
            <a:endParaRPr lang="en-US" sz="850" dirty="0"/>
          </a:p>
        </p:txBody>
      </p:sp>
      <p:sp>
        <p:nvSpPr>
          <p:cNvPr id="20" name="Text 18"/>
          <p:cNvSpPr/>
          <p:nvPr/>
        </p:nvSpPr>
        <p:spPr>
          <a:xfrm>
            <a:off x="1737360" y="4892040"/>
            <a:ext cx="914400" cy="237744"/>
          </a:xfrm>
          <a:prstGeom prst="rect">
            <a:avLst/>
          </a:prstGeom>
          <a:noFill/>
          <a:ln/>
        </p:spPr>
        <p:txBody>
          <a:bodyPr wrap="square" lIns="0" tIns="0" rIns="0" bIns="0" rtlCol="0" anchor="ctr"/>
          <a:lstStyle/>
          <a:p>
            <a:pPr marL="0" indent="0" algn="l">
              <a:buNone/>
            </a:pPr>
            <a:r>
              <a:rPr lang="en-US" sz="800" dirty="0">
                <a:solidFill>
                  <a:srgbClr val="B0A8D0"/>
                </a:solidFill>
                <a:latin typeface="Inter" pitchFamily="34" charset="0"/>
                <a:ea typeface="Inter" pitchFamily="34" charset="-122"/>
                <a:cs typeface="Inter" pitchFamily="34" charset="-120"/>
              </a:rPr>
              <a:t>Sunny</a:t>
            </a:r>
            <a:endParaRPr lang="en-US" sz="800" dirty="0"/>
          </a:p>
        </p:txBody>
      </p:sp>
      <p:sp>
        <p:nvSpPr>
          <p:cNvPr id="21" name="Text 19"/>
          <p:cNvSpPr/>
          <p:nvPr/>
        </p:nvSpPr>
        <p:spPr>
          <a:xfrm>
            <a:off x="2807208" y="4892040"/>
            <a:ext cx="548640" cy="237744"/>
          </a:xfrm>
          <a:prstGeom prst="rect">
            <a:avLst/>
          </a:prstGeom>
          <a:noFill/>
          <a:ln/>
        </p:spPr>
        <p:txBody>
          <a:bodyPr wrap="square" lIns="0" tIns="0" rIns="0" bIns="0" rtlCol="0" anchor="ctr"/>
          <a:lstStyle/>
          <a:p>
            <a:pPr marL="0" indent="0" algn="r">
              <a:buNone/>
            </a:pPr>
            <a:r>
              <a:rPr lang="en-US" sz="850" b="1" dirty="0">
                <a:solidFill>
                  <a:srgbClr val="FFFFFF"/>
                </a:solidFill>
                <a:latin typeface="Inter" pitchFamily="34" charset="0"/>
                <a:ea typeface="Inter" pitchFamily="34" charset="-122"/>
                <a:cs typeface="Inter" pitchFamily="34" charset="-120"/>
              </a:rPr>
              <a:t>+31°</a:t>
            </a:r>
            <a:endParaRPr lang="en-US" sz="850" dirty="0"/>
          </a:p>
        </p:txBody>
      </p:sp>
      <p:sp>
        <p:nvSpPr>
          <p:cNvPr id="22" name="Text 20"/>
          <p:cNvSpPr/>
          <p:nvPr/>
        </p:nvSpPr>
        <p:spPr>
          <a:xfrm>
            <a:off x="1124712" y="5166360"/>
            <a:ext cx="548640" cy="237744"/>
          </a:xfrm>
          <a:prstGeom prst="rect">
            <a:avLst/>
          </a:prstGeom>
          <a:noFill/>
          <a:ln/>
        </p:spPr>
        <p:txBody>
          <a:bodyPr wrap="square" lIns="0" tIns="0" rIns="0" bIns="0" rtlCol="0" anchor="ctr"/>
          <a:lstStyle/>
          <a:p>
            <a:pPr marL="0" indent="0" algn="l">
              <a:buNone/>
            </a:pPr>
            <a:r>
              <a:rPr lang="en-US" sz="850" b="1" dirty="0">
                <a:solidFill>
                  <a:srgbClr val="FFFFFF"/>
                </a:solidFill>
                <a:latin typeface="Inter" pitchFamily="34" charset="0"/>
                <a:ea typeface="Inter" pitchFamily="34" charset="-122"/>
                <a:cs typeface="Inter" pitchFamily="34" charset="-120"/>
              </a:rPr>
              <a:t>Tue</a:t>
            </a:r>
            <a:endParaRPr lang="en-US" sz="850" dirty="0"/>
          </a:p>
        </p:txBody>
      </p:sp>
      <p:sp>
        <p:nvSpPr>
          <p:cNvPr id="23" name="Text 21"/>
          <p:cNvSpPr/>
          <p:nvPr/>
        </p:nvSpPr>
        <p:spPr>
          <a:xfrm>
            <a:off x="1737360" y="5166360"/>
            <a:ext cx="914400" cy="237744"/>
          </a:xfrm>
          <a:prstGeom prst="rect">
            <a:avLst/>
          </a:prstGeom>
          <a:noFill/>
          <a:ln/>
        </p:spPr>
        <p:txBody>
          <a:bodyPr wrap="square" lIns="0" tIns="0" rIns="0" bIns="0" rtlCol="0" anchor="ctr"/>
          <a:lstStyle/>
          <a:p>
            <a:pPr marL="0" indent="0" algn="l">
              <a:buNone/>
            </a:pPr>
            <a:r>
              <a:rPr lang="en-US" sz="800" dirty="0">
                <a:solidFill>
                  <a:srgbClr val="B0A8D0"/>
                </a:solidFill>
                <a:latin typeface="Inter" pitchFamily="34" charset="0"/>
                <a:ea typeface="Inter" pitchFamily="34" charset="-122"/>
                <a:cs typeface="Inter" pitchFamily="34" charset="-120"/>
              </a:rPr>
              <a:t>Cloudy</a:t>
            </a:r>
            <a:endParaRPr lang="en-US" sz="800" dirty="0"/>
          </a:p>
        </p:txBody>
      </p:sp>
      <p:sp>
        <p:nvSpPr>
          <p:cNvPr id="24" name="Text 22"/>
          <p:cNvSpPr/>
          <p:nvPr/>
        </p:nvSpPr>
        <p:spPr>
          <a:xfrm>
            <a:off x="2807208" y="5166360"/>
            <a:ext cx="548640" cy="237744"/>
          </a:xfrm>
          <a:prstGeom prst="rect">
            <a:avLst/>
          </a:prstGeom>
          <a:noFill/>
          <a:ln/>
        </p:spPr>
        <p:txBody>
          <a:bodyPr wrap="square" lIns="0" tIns="0" rIns="0" bIns="0" rtlCol="0" anchor="ctr"/>
          <a:lstStyle/>
          <a:p>
            <a:pPr marL="0" indent="0" algn="r">
              <a:buNone/>
            </a:pPr>
            <a:r>
              <a:rPr lang="en-US" sz="850" b="1" dirty="0">
                <a:solidFill>
                  <a:srgbClr val="FFFFFF"/>
                </a:solidFill>
                <a:latin typeface="Inter" pitchFamily="34" charset="0"/>
                <a:ea typeface="Inter" pitchFamily="34" charset="-122"/>
                <a:cs typeface="Inter" pitchFamily="34" charset="-120"/>
              </a:rPr>
              <a:t>+31°</a:t>
            </a:r>
            <a:endParaRPr lang="en-US" sz="850" dirty="0"/>
          </a:p>
        </p:txBody>
      </p:sp>
      <p:sp>
        <p:nvSpPr>
          <p:cNvPr id="25" name="Text 23"/>
          <p:cNvSpPr/>
          <p:nvPr/>
        </p:nvSpPr>
        <p:spPr>
          <a:xfrm>
            <a:off x="1124712" y="5440680"/>
            <a:ext cx="548640" cy="237744"/>
          </a:xfrm>
          <a:prstGeom prst="rect">
            <a:avLst/>
          </a:prstGeom>
          <a:noFill/>
          <a:ln/>
        </p:spPr>
        <p:txBody>
          <a:bodyPr wrap="square" lIns="0" tIns="0" rIns="0" bIns="0" rtlCol="0" anchor="ctr"/>
          <a:lstStyle/>
          <a:p>
            <a:pPr marL="0" indent="0" algn="l">
              <a:buNone/>
            </a:pPr>
            <a:r>
              <a:rPr lang="en-US" sz="850" b="1" dirty="0">
                <a:solidFill>
                  <a:srgbClr val="FFFFFF"/>
                </a:solidFill>
                <a:latin typeface="Inter" pitchFamily="34" charset="0"/>
                <a:ea typeface="Inter" pitchFamily="34" charset="-122"/>
                <a:cs typeface="Inter" pitchFamily="34" charset="-120"/>
              </a:rPr>
              <a:t>Wed</a:t>
            </a:r>
            <a:endParaRPr lang="en-US" sz="850" dirty="0"/>
          </a:p>
        </p:txBody>
      </p:sp>
      <p:sp>
        <p:nvSpPr>
          <p:cNvPr id="26" name="Text 24"/>
          <p:cNvSpPr/>
          <p:nvPr/>
        </p:nvSpPr>
        <p:spPr>
          <a:xfrm>
            <a:off x="1737360" y="5440680"/>
            <a:ext cx="914400" cy="237744"/>
          </a:xfrm>
          <a:prstGeom prst="rect">
            <a:avLst/>
          </a:prstGeom>
          <a:noFill/>
          <a:ln/>
        </p:spPr>
        <p:txBody>
          <a:bodyPr wrap="square" lIns="0" tIns="0" rIns="0" bIns="0" rtlCol="0" anchor="ctr"/>
          <a:lstStyle/>
          <a:p>
            <a:pPr marL="0" indent="0" algn="l">
              <a:buNone/>
            </a:pPr>
            <a:r>
              <a:rPr lang="en-US" sz="800" dirty="0">
                <a:solidFill>
                  <a:srgbClr val="B0A8D0"/>
                </a:solidFill>
                <a:latin typeface="Inter" pitchFamily="34" charset="0"/>
                <a:ea typeface="Inter" pitchFamily="34" charset="-122"/>
                <a:cs typeface="Inter" pitchFamily="34" charset="-120"/>
              </a:rPr>
              <a:t>Thunder</a:t>
            </a:r>
            <a:endParaRPr lang="en-US" sz="800" dirty="0"/>
          </a:p>
        </p:txBody>
      </p:sp>
      <p:sp>
        <p:nvSpPr>
          <p:cNvPr id="27" name="Text 25"/>
          <p:cNvSpPr/>
          <p:nvPr/>
        </p:nvSpPr>
        <p:spPr>
          <a:xfrm>
            <a:off x="2807208" y="5440680"/>
            <a:ext cx="548640" cy="237744"/>
          </a:xfrm>
          <a:prstGeom prst="rect">
            <a:avLst/>
          </a:prstGeom>
          <a:noFill/>
          <a:ln/>
        </p:spPr>
        <p:txBody>
          <a:bodyPr wrap="square" lIns="0" tIns="0" rIns="0" bIns="0" rtlCol="0" anchor="ctr"/>
          <a:lstStyle/>
          <a:p>
            <a:pPr marL="0" indent="0" algn="r">
              <a:buNone/>
            </a:pPr>
            <a:r>
              <a:rPr lang="en-US" sz="850" b="1" dirty="0">
                <a:solidFill>
                  <a:srgbClr val="FFFFFF"/>
                </a:solidFill>
                <a:latin typeface="Inter" pitchFamily="34" charset="0"/>
                <a:ea typeface="Inter" pitchFamily="34" charset="-122"/>
                <a:cs typeface="Inter" pitchFamily="34" charset="-120"/>
              </a:rPr>
              <a:t>+31°</a:t>
            </a:r>
            <a:endParaRPr lang="en-US" sz="850" dirty="0"/>
          </a:p>
        </p:txBody>
      </p:sp>
      <p:sp>
        <p:nvSpPr>
          <p:cNvPr id="28" name="Shape 26"/>
          <p:cNvSpPr/>
          <p:nvPr/>
        </p:nvSpPr>
        <p:spPr>
          <a:xfrm>
            <a:off x="4686300" y="3127248"/>
            <a:ext cx="2697480" cy="658368"/>
          </a:xfrm>
          <a:prstGeom prst="roundRect">
            <a:avLst>
              <a:gd name="adj" fmla="val 13889"/>
            </a:avLst>
          </a:prstGeom>
          <a:solidFill>
            <a:srgbClr val="FFFFFF"/>
          </a:solidFill>
          <a:ln w="25400">
            <a:solidFill>
              <a:srgbClr val="14121F"/>
            </a:solidFill>
            <a:prstDash val="solid"/>
          </a:ln>
          <a:effectLst>
            <a:outerShdw blurRad="101600" dist="50800" dir="2700000" algn="bl" rotWithShape="0">
              <a:srgbClr val="14121F">
                <a:alpha val="100000"/>
              </a:srgbClr>
            </a:outerShdw>
          </a:effectLst>
        </p:spPr>
        <p:txBody>
          <a:bodyPr/>
          <a:lstStyle/>
          <a:p>
            <a:endParaRPr lang="de-DE"/>
          </a:p>
        </p:txBody>
      </p:sp>
      <p:sp>
        <p:nvSpPr>
          <p:cNvPr id="29" name="Shape 27"/>
          <p:cNvSpPr/>
          <p:nvPr/>
        </p:nvSpPr>
        <p:spPr>
          <a:xfrm>
            <a:off x="4759452" y="3200400"/>
            <a:ext cx="512064" cy="512064"/>
          </a:xfrm>
          <a:prstGeom prst="roundRect">
            <a:avLst>
              <a:gd name="adj" fmla="val 12500"/>
            </a:avLst>
          </a:prstGeom>
          <a:solidFill>
            <a:srgbClr val="5A4A9E"/>
          </a:solidFill>
          <a:ln w="15875">
            <a:solidFill>
              <a:srgbClr val="14121F"/>
            </a:solidFill>
            <a:prstDash val="solid"/>
          </a:ln>
        </p:spPr>
        <p:txBody>
          <a:bodyPr/>
          <a:lstStyle/>
          <a:p>
            <a:endParaRPr lang="de-DE"/>
          </a:p>
        </p:txBody>
      </p:sp>
      <p:sp>
        <p:nvSpPr>
          <p:cNvPr id="30" name="Text 28"/>
          <p:cNvSpPr/>
          <p:nvPr/>
        </p:nvSpPr>
        <p:spPr>
          <a:xfrm>
            <a:off x="5399532" y="3200400"/>
            <a:ext cx="1874520" cy="274320"/>
          </a:xfrm>
          <a:prstGeom prst="rect">
            <a:avLst/>
          </a:prstGeom>
          <a:noFill/>
          <a:ln/>
        </p:spPr>
        <p:txBody>
          <a:bodyPr wrap="square" lIns="0" tIns="0" rIns="0" bIns="0" rtlCol="0" anchor="ctr"/>
          <a:lstStyle/>
          <a:p>
            <a:pPr marL="0" indent="0" algn="l">
              <a:buNone/>
            </a:pPr>
            <a:r>
              <a:rPr lang="en-US" sz="1100" b="1" dirty="0">
                <a:solidFill>
                  <a:srgbClr val="5B2EFF"/>
                </a:solidFill>
                <a:latin typeface="JetBrains Mono" pitchFamily="34" charset="0"/>
                <a:ea typeface="JetBrains Mono" pitchFamily="34" charset="-122"/>
                <a:cs typeface="JetBrains Mono" pitchFamily="34" charset="-120"/>
              </a:rPr>
              <a:t>color/5a4a9e</a:t>
            </a:r>
            <a:endParaRPr lang="en-US" sz="1100" dirty="0"/>
          </a:p>
        </p:txBody>
      </p:sp>
      <p:sp>
        <p:nvSpPr>
          <p:cNvPr id="31" name="Text 29"/>
          <p:cNvSpPr/>
          <p:nvPr/>
        </p:nvSpPr>
        <p:spPr>
          <a:xfrm>
            <a:off x="5399532" y="3456432"/>
            <a:ext cx="1874520" cy="256032"/>
          </a:xfrm>
          <a:prstGeom prst="rect">
            <a:avLst/>
          </a:prstGeom>
          <a:noFill/>
          <a:ln/>
        </p:spPr>
        <p:txBody>
          <a:bodyPr wrap="square" lIns="0" tIns="0" rIns="0" bIns="0" rtlCol="0" anchor="ctr"/>
          <a:lstStyle/>
          <a:p>
            <a:pPr marL="0" indent="0" algn="l">
              <a:buNone/>
            </a:pPr>
            <a:r>
              <a:rPr lang="en-US" sz="950" b="1" dirty="0">
                <a:solidFill>
                  <a:srgbClr val="14121F"/>
                </a:solidFill>
                <a:latin typeface="JetBrains Mono" pitchFamily="34" charset="0"/>
                <a:ea typeface="JetBrains Mono" pitchFamily="34" charset="-122"/>
                <a:cs typeface="JetBrains Mono" pitchFamily="34" charset="-120"/>
              </a:rPr>
              <a:t>#5A4A9E</a:t>
            </a:r>
            <a:r>
              <a:rPr lang="en-US" sz="950" dirty="0">
                <a:solidFill>
                  <a:srgbClr val="6B6878"/>
                </a:solidFill>
                <a:latin typeface="JetBrains Mono" pitchFamily="34" charset="0"/>
                <a:ea typeface="JetBrains Mono" pitchFamily="34" charset="-122"/>
                <a:cs typeface="JetBrains Mono" pitchFamily="34" charset="-120"/>
              </a:rPr>
              <a:t>   surface</a:t>
            </a:r>
            <a:endParaRPr lang="en-US" sz="950" dirty="0"/>
          </a:p>
        </p:txBody>
      </p:sp>
      <p:sp>
        <p:nvSpPr>
          <p:cNvPr id="32" name="Shape 30"/>
          <p:cNvSpPr/>
          <p:nvPr/>
        </p:nvSpPr>
        <p:spPr>
          <a:xfrm>
            <a:off x="4686300" y="3877056"/>
            <a:ext cx="2697480" cy="658368"/>
          </a:xfrm>
          <a:prstGeom prst="roundRect">
            <a:avLst>
              <a:gd name="adj" fmla="val 13889"/>
            </a:avLst>
          </a:prstGeom>
          <a:solidFill>
            <a:srgbClr val="FFFFFF"/>
          </a:solidFill>
          <a:ln w="25400">
            <a:solidFill>
              <a:srgbClr val="14121F"/>
            </a:solidFill>
            <a:prstDash val="solid"/>
          </a:ln>
          <a:effectLst>
            <a:outerShdw blurRad="101600" dist="50800" dir="2700000" algn="bl" rotWithShape="0">
              <a:srgbClr val="14121F">
                <a:alpha val="100000"/>
              </a:srgbClr>
            </a:outerShdw>
          </a:effectLst>
        </p:spPr>
        <p:txBody>
          <a:bodyPr/>
          <a:lstStyle/>
          <a:p>
            <a:endParaRPr lang="de-DE"/>
          </a:p>
        </p:txBody>
      </p:sp>
      <p:sp>
        <p:nvSpPr>
          <p:cNvPr id="33" name="Shape 31"/>
          <p:cNvSpPr/>
          <p:nvPr/>
        </p:nvSpPr>
        <p:spPr>
          <a:xfrm>
            <a:off x="4759452" y="3950208"/>
            <a:ext cx="512064" cy="512064"/>
          </a:xfrm>
          <a:prstGeom prst="roundRect">
            <a:avLst>
              <a:gd name="adj" fmla="val 12500"/>
            </a:avLst>
          </a:prstGeom>
          <a:solidFill>
            <a:srgbClr val="FBC02D"/>
          </a:solidFill>
          <a:ln w="15875">
            <a:solidFill>
              <a:srgbClr val="14121F"/>
            </a:solidFill>
            <a:prstDash val="solid"/>
          </a:ln>
        </p:spPr>
        <p:txBody>
          <a:bodyPr/>
          <a:lstStyle/>
          <a:p>
            <a:endParaRPr lang="de-DE"/>
          </a:p>
        </p:txBody>
      </p:sp>
      <p:sp>
        <p:nvSpPr>
          <p:cNvPr id="34" name="Text 32"/>
          <p:cNvSpPr/>
          <p:nvPr/>
        </p:nvSpPr>
        <p:spPr>
          <a:xfrm>
            <a:off x="5399532" y="3950208"/>
            <a:ext cx="1874520" cy="274320"/>
          </a:xfrm>
          <a:prstGeom prst="rect">
            <a:avLst/>
          </a:prstGeom>
          <a:noFill/>
          <a:ln/>
        </p:spPr>
        <p:txBody>
          <a:bodyPr wrap="square" lIns="0" tIns="0" rIns="0" bIns="0" rtlCol="0" anchor="ctr"/>
          <a:lstStyle/>
          <a:p>
            <a:pPr marL="0" indent="0" algn="l">
              <a:buNone/>
            </a:pPr>
            <a:r>
              <a:rPr lang="en-US" sz="1100" b="1" dirty="0">
                <a:solidFill>
                  <a:srgbClr val="5B2EFF"/>
                </a:solidFill>
                <a:latin typeface="JetBrains Mono" pitchFamily="34" charset="0"/>
                <a:ea typeface="JetBrains Mono" pitchFamily="34" charset="-122"/>
                <a:cs typeface="JetBrains Mono" pitchFamily="34" charset="-120"/>
              </a:rPr>
              <a:t>color/fbc02d</a:t>
            </a:r>
            <a:endParaRPr lang="en-US" sz="1100" dirty="0"/>
          </a:p>
        </p:txBody>
      </p:sp>
      <p:sp>
        <p:nvSpPr>
          <p:cNvPr id="35" name="Text 33"/>
          <p:cNvSpPr/>
          <p:nvPr/>
        </p:nvSpPr>
        <p:spPr>
          <a:xfrm>
            <a:off x="5399532" y="4206240"/>
            <a:ext cx="1874520" cy="256032"/>
          </a:xfrm>
          <a:prstGeom prst="rect">
            <a:avLst/>
          </a:prstGeom>
          <a:noFill/>
          <a:ln/>
        </p:spPr>
        <p:txBody>
          <a:bodyPr wrap="square" lIns="0" tIns="0" rIns="0" bIns="0" rtlCol="0" anchor="ctr"/>
          <a:lstStyle/>
          <a:p>
            <a:pPr marL="0" indent="0" algn="l">
              <a:buNone/>
            </a:pPr>
            <a:r>
              <a:rPr lang="en-US" sz="950" b="1" dirty="0">
                <a:solidFill>
                  <a:srgbClr val="14121F"/>
                </a:solidFill>
                <a:latin typeface="JetBrains Mono" pitchFamily="34" charset="0"/>
                <a:ea typeface="JetBrains Mono" pitchFamily="34" charset="-122"/>
                <a:cs typeface="JetBrains Mono" pitchFamily="34" charset="-120"/>
              </a:rPr>
              <a:t>#FBC02D</a:t>
            </a:r>
            <a:r>
              <a:rPr lang="en-US" sz="950" dirty="0">
                <a:solidFill>
                  <a:srgbClr val="6B6878"/>
                </a:solidFill>
                <a:latin typeface="JetBrains Mono" pitchFamily="34" charset="0"/>
                <a:ea typeface="JetBrains Mono" pitchFamily="34" charset="-122"/>
                <a:cs typeface="JetBrains Mono" pitchFamily="34" charset="-120"/>
              </a:rPr>
              <a:t>   ×2</a:t>
            </a:r>
            <a:endParaRPr lang="en-US" sz="950" dirty="0"/>
          </a:p>
        </p:txBody>
      </p:sp>
      <p:sp>
        <p:nvSpPr>
          <p:cNvPr id="36" name="Shape 34"/>
          <p:cNvSpPr/>
          <p:nvPr/>
        </p:nvSpPr>
        <p:spPr>
          <a:xfrm>
            <a:off x="4686300" y="4626864"/>
            <a:ext cx="2697480" cy="658368"/>
          </a:xfrm>
          <a:prstGeom prst="roundRect">
            <a:avLst>
              <a:gd name="adj" fmla="val 13889"/>
            </a:avLst>
          </a:prstGeom>
          <a:solidFill>
            <a:srgbClr val="FFFFFF"/>
          </a:solidFill>
          <a:ln w="25400">
            <a:solidFill>
              <a:srgbClr val="14121F"/>
            </a:solidFill>
            <a:prstDash val="solid"/>
          </a:ln>
          <a:effectLst>
            <a:outerShdw blurRad="101600" dist="50800" dir="2700000" algn="bl" rotWithShape="0">
              <a:srgbClr val="14121F">
                <a:alpha val="100000"/>
              </a:srgbClr>
            </a:outerShdw>
          </a:effectLst>
        </p:spPr>
        <p:txBody>
          <a:bodyPr/>
          <a:lstStyle/>
          <a:p>
            <a:endParaRPr lang="de-DE"/>
          </a:p>
        </p:txBody>
      </p:sp>
      <p:sp>
        <p:nvSpPr>
          <p:cNvPr id="37" name="Shape 35"/>
          <p:cNvSpPr/>
          <p:nvPr/>
        </p:nvSpPr>
        <p:spPr>
          <a:xfrm>
            <a:off x="4759452" y="4700016"/>
            <a:ext cx="512064" cy="512064"/>
          </a:xfrm>
          <a:prstGeom prst="roundRect">
            <a:avLst>
              <a:gd name="adj" fmla="val 12500"/>
            </a:avLst>
          </a:prstGeom>
          <a:solidFill>
            <a:srgbClr val="1E9BD7"/>
          </a:solidFill>
          <a:ln w="15875">
            <a:solidFill>
              <a:srgbClr val="14121F"/>
            </a:solidFill>
            <a:prstDash val="solid"/>
          </a:ln>
        </p:spPr>
        <p:txBody>
          <a:bodyPr/>
          <a:lstStyle/>
          <a:p>
            <a:endParaRPr lang="de-DE"/>
          </a:p>
        </p:txBody>
      </p:sp>
      <p:sp>
        <p:nvSpPr>
          <p:cNvPr id="38" name="Text 36"/>
          <p:cNvSpPr/>
          <p:nvPr/>
        </p:nvSpPr>
        <p:spPr>
          <a:xfrm>
            <a:off x="5399532" y="4700016"/>
            <a:ext cx="1874520" cy="274320"/>
          </a:xfrm>
          <a:prstGeom prst="rect">
            <a:avLst/>
          </a:prstGeom>
          <a:noFill/>
          <a:ln/>
        </p:spPr>
        <p:txBody>
          <a:bodyPr wrap="square" lIns="0" tIns="0" rIns="0" bIns="0" rtlCol="0" anchor="ctr"/>
          <a:lstStyle/>
          <a:p>
            <a:pPr marL="0" indent="0" algn="l">
              <a:buNone/>
            </a:pPr>
            <a:r>
              <a:rPr lang="en-US" sz="1100" b="1" dirty="0">
                <a:solidFill>
                  <a:srgbClr val="5B2EFF"/>
                </a:solidFill>
                <a:latin typeface="JetBrains Mono" pitchFamily="34" charset="0"/>
                <a:ea typeface="JetBrains Mono" pitchFamily="34" charset="-122"/>
                <a:cs typeface="JetBrains Mono" pitchFamily="34" charset="-120"/>
              </a:rPr>
              <a:t>color/1e9bd7</a:t>
            </a:r>
            <a:endParaRPr lang="en-US" sz="1100" dirty="0"/>
          </a:p>
        </p:txBody>
      </p:sp>
      <p:sp>
        <p:nvSpPr>
          <p:cNvPr id="39" name="Text 37"/>
          <p:cNvSpPr/>
          <p:nvPr/>
        </p:nvSpPr>
        <p:spPr>
          <a:xfrm>
            <a:off x="5399532" y="4956048"/>
            <a:ext cx="1874520" cy="256032"/>
          </a:xfrm>
          <a:prstGeom prst="rect">
            <a:avLst/>
          </a:prstGeom>
          <a:noFill/>
          <a:ln/>
        </p:spPr>
        <p:txBody>
          <a:bodyPr wrap="square" lIns="0" tIns="0" rIns="0" bIns="0" rtlCol="0" anchor="ctr"/>
          <a:lstStyle/>
          <a:p>
            <a:pPr marL="0" indent="0" algn="l">
              <a:buNone/>
            </a:pPr>
            <a:r>
              <a:rPr lang="en-US" sz="950" b="1" dirty="0">
                <a:solidFill>
                  <a:srgbClr val="14121F"/>
                </a:solidFill>
                <a:latin typeface="JetBrains Mono" pitchFamily="34" charset="0"/>
                <a:ea typeface="JetBrains Mono" pitchFamily="34" charset="-122"/>
                <a:cs typeface="JetBrains Mono" pitchFamily="34" charset="-120"/>
              </a:rPr>
              <a:t>#1E9BD7</a:t>
            </a:r>
            <a:r>
              <a:rPr lang="en-US" sz="950" dirty="0">
                <a:solidFill>
                  <a:srgbClr val="6B6878"/>
                </a:solidFill>
                <a:latin typeface="JetBrains Mono" pitchFamily="34" charset="0"/>
                <a:ea typeface="JetBrains Mono" pitchFamily="34" charset="-122"/>
                <a:cs typeface="JetBrains Mono" pitchFamily="34" charset="-120"/>
              </a:rPr>
              <a:t>   ×3</a:t>
            </a:r>
            <a:endParaRPr lang="en-US" sz="950" dirty="0"/>
          </a:p>
        </p:txBody>
      </p:sp>
      <p:sp>
        <p:nvSpPr>
          <p:cNvPr id="40" name="Text 38"/>
          <p:cNvSpPr/>
          <p:nvPr/>
        </p:nvSpPr>
        <p:spPr>
          <a:xfrm>
            <a:off x="4759452" y="5458968"/>
            <a:ext cx="2697480" cy="320040"/>
          </a:xfrm>
          <a:prstGeom prst="rect">
            <a:avLst/>
          </a:prstGeom>
          <a:noFill/>
          <a:ln/>
        </p:spPr>
        <p:txBody>
          <a:bodyPr wrap="square" lIns="0" tIns="0" rIns="0" bIns="0" rtlCol="0" anchor="ctr"/>
          <a:lstStyle/>
          <a:p>
            <a:pPr marL="0" indent="0" algn="l">
              <a:buNone/>
            </a:pPr>
            <a:r>
              <a:rPr lang="en-US" sz="900" dirty="0">
                <a:solidFill>
                  <a:srgbClr val="6B6878"/>
                </a:solidFill>
                <a:latin typeface="JetBrains Mono" pitchFamily="34" charset="0"/>
                <a:ea typeface="JetBrains Mono" pitchFamily="34" charset="-122"/>
                <a:cs typeface="JetBrains Mono" pitchFamily="34" charset="-120"/>
              </a:rPr>
              <a:t>18 tokens · deduplicated · with frequency</a:t>
            </a:r>
            <a:endParaRPr lang="en-US" sz="900" dirty="0"/>
          </a:p>
        </p:txBody>
      </p:sp>
      <p:sp>
        <p:nvSpPr>
          <p:cNvPr id="41" name="Shape 39"/>
          <p:cNvSpPr/>
          <p:nvPr/>
        </p:nvSpPr>
        <p:spPr>
          <a:xfrm>
            <a:off x="8490204" y="3127248"/>
            <a:ext cx="2697480" cy="658368"/>
          </a:xfrm>
          <a:prstGeom prst="roundRect">
            <a:avLst>
              <a:gd name="adj" fmla="val 13889"/>
            </a:avLst>
          </a:prstGeom>
          <a:solidFill>
            <a:srgbClr val="FFFFFF"/>
          </a:solidFill>
          <a:ln w="25400">
            <a:solidFill>
              <a:srgbClr val="14121F"/>
            </a:solidFill>
            <a:prstDash val="solid"/>
          </a:ln>
          <a:effectLst>
            <a:outerShdw blurRad="101600" dist="50800" dir="2700000" algn="bl" rotWithShape="0">
              <a:srgbClr val="14121F">
                <a:alpha val="100000"/>
              </a:srgbClr>
            </a:outerShdw>
          </a:effectLst>
        </p:spPr>
        <p:txBody>
          <a:bodyPr/>
          <a:lstStyle/>
          <a:p>
            <a:endParaRPr lang="de-DE"/>
          </a:p>
        </p:txBody>
      </p:sp>
      <p:sp>
        <p:nvSpPr>
          <p:cNvPr id="42" name="Shape 40"/>
          <p:cNvSpPr/>
          <p:nvPr/>
        </p:nvSpPr>
        <p:spPr>
          <a:xfrm>
            <a:off x="8563356" y="3200400"/>
            <a:ext cx="512064" cy="512064"/>
          </a:xfrm>
          <a:prstGeom prst="roundRect">
            <a:avLst>
              <a:gd name="adj" fmla="val 12500"/>
            </a:avLst>
          </a:prstGeom>
          <a:solidFill>
            <a:srgbClr val="5A4A9E"/>
          </a:solidFill>
          <a:ln w="15875">
            <a:solidFill>
              <a:srgbClr val="14121F"/>
            </a:solidFill>
            <a:prstDash val="solid"/>
          </a:ln>
        </p:spPr>
        <p:txBody>
          <a:bodyPr/>
          <a:lstStyle/>
          <a:p>
            <a:endParaRPr lang="de-DE"/>
          </a:p>
        </p:txBody>
      </p:sp>
      <p:sp>
        <p:nvSpPr>
          <p:cNvPr id="43" name="Text 41"/>
          <p:cNvSpPr/>
          <p:nvPr/>
        </p:nvSpPr>
        <p:spPr>
          <a:xfrm>
            <a:off x="9203436" y="3200400"/>
            <a:ext cx="1874520" cy="274320"/>
          </a:xfrm>
          <a:prstGeom prst="rect">
            <a:avLst/>
          </a:prstGeom>
          <a:noFill/>
          <a:ln/>
        </p:spPr>
        <p:txBody>
          <a:bodyPr wrap="square" lIns="0" tIns="0" rIns="0" bIns="0" rtlCol="0" anchor="ctr"/>
          <a:lstStyle/>
          <a:p>
            <a:pPr marL="0" indent="0" algn="l">
              <a:buNone/>
            </a:pPr>
            <a:r>
              <a:rPr lang="en-US" sz="1100" b="1" dirty="0">
                <a:solidFill>
                  <a:srgbClr val="5B2EFF"/>
                </a:solidFill>
                <a:latin typeface="JetBrains Mono" pitchFamily="34" charset="0"/>
                <a:ea typeface="JetBrains Mono" pitchFamily="34" charset="-122"/>
                <a:cs typeface="JetBrains Mono" pitchFamily="34" charset="-120"/>
              </a:rPr>
              <a:t>color/surface/card</a:t>
            </a:r>
            <a:endParaRPr lang="en-US" sz="1100" dirty="0"/>
          </a:p>
        </p:txBody>
      </p:sp>
      <p:sp>
        <p:nvSpPr>
          <p:cNvPr id="44" name="Text 42"/>
          <p:cNvSpPr/>
          <p:nvPr/>
        </p:nvSpPr>
        <p:spPr>
          <a:xfrm>
            <a:off x="9203436" y="3456432"/>
            <a:ext cx="1874520" cy="256032"/>
          </a:xfrm>
          <a:prstGeom prst="rect">
            <a:avLst/>
          </a:prstGeom>
          <a:noFill/>
          <a:ln/>
        </p:spPr>
        <p:txBody>
          <a:bodyPr wrap="square" lIns="0" tIns="0" rIns="0" bIns="0" rtlCol="0" anchor="ctr"/>
          <a:lstStyle/>
          <a:p>
            <a:pPr marL="0" indent="0" algn="l">
              <a:buNone/>
            </a:pPr>
            <a:r>
              <a:rPr lang="en-US" sz="950" b="1" dirty="0">
                <a:solidFill>
                  <a:srgbClr val="14121F"/>
                </a:solidFill>
                <a:latin typeface="JetBrains Mono" pitchFamily="34" charset="0"/>
                <a:ea typeface="JetBrains Mono" pitchFamily="34" charset="-122"/>
                <a:cs typeface="JetBrains Mono" pitchFamily="34" charset="-120"/>
              </a:rPr>
              <a:t>Paint Style</a:t>
            </a:r>
            <a:endParaRPr lang="en-US" sz="950" dirty="0"/>
          </a:p>
        </p:txBody>
      </p:sp>
      <p:sp>
        <p:nvSpPr>
          <p:cNvPr id="45" name="Shape 43"/>
          <p:cNvSpPr/>
          <p:nvPr/>
        </p:nvSpPr>
        <p:spPr>
          <a:xfrm>
            <a:off x="8490204" y="3877056"/>
            <a:ext cx="2697480" cy="658368"/>
          </a:xfrm>
          <a:prstGeom prst="roundRect">
            <a:avLst>
              <a:gd name="adj" fmla="val 13889"/>
            </a:avLst>
          </a:prstGeom>
          <a:solidFill>
            <a:srgbClr val="FFFFFF"/>
          </a:solidFill>
          <a:ln w="25400">
            <a:solidFill>
              <a:srgbClr val="14121F"/>
            </a:solidFill>
            <a:prstDash val="solid"/>
          </a:ln>
          <a:effectLst>
            <a:outerShdw blurRad="101600" dist="50800" dir="2700000" algn="bl" rotWithShape="0">
              <a:srgbClr val="14121F">
                <a:alpha val="100000"/>
              </a:srgbClr>
            </a:outerShdw>
          </a:effectLst>
        </p:spPr>
        <p:txBody>
          <a:bodyPr/>
          <a:lstStyle/>
          <a:p>
            <a:endParaRPr lang="de-DE"/>
          </a:p>
        </p:txBody>
      </p:sp>
      <p:sp>
        <p:nvSpPr>
          <p:cNvPr id="46" name="Shape 44"/>
          <p:cNvSpPr/>
          <p:nvPr/>
        </p:nvSpPr>
        <p:spPr>
          <a:xfrm>
            <a:off x="8563356" y="3950208"/>
            <a:ext cx="512064" cy="512064"/>
          </a:xfrm>
          <a:prstGeom prst="roundRect">
            <a:avLst>
              <a:gd name="adj" fmla="val 12500"/>
            </a:avLst>
          </a:prstGeom>
          <a:solidFill>
            <a:srgbClr val="FBC02D"/>
          </a:solidFill>
          <a:ln w="15875">
            <a:solidFill>
              <a:srgbClr val="14121F"/>
            </a:solidFill>
            <a:prstDash val="solid"/>
          </a:ln>
        </p:spPr>
        <p:txBody>
          <a:bodyPr/>
          <a:lstStyle/>
          <a:p>
            <a:endParaRPr lang="de-DE"/>
          </a:p>
        </p:txBody>
      </p:sp>
      <p:sp>
        <p:nvSpPr>
          <p:cNvPr id="47" name="Text 45"/>
          <p:cNvSpPr/>
          <p:nvPr/>
        </p:nvSpPr>
        <p:spPr>
          <a:xfrm>
            <a:off x="9203436" y="3950208"/>
            <a:ext cx="1874520" cy="274320"/>
          </a:xfrm>
          <a:prstGeom prst="rect">
            <a:avLst/>
          </a:prstGeom>
          <a:noFill/>
          <a:ln/>
        </p:spPr>
        <p:txBody>
          <a:bodyPr wrap="square" lIns="0" tIns="0" rIns="0" bIns="0" rtlCol="0" anchor="ctr"/>
          <a:lstStyle/>
          <a:p>
            <a:pPr marL="0" indent="0" algn="l">
              <a:buNone/>
            </a:pPr>
            <a:r>
              <a:rPr lang="en-US" sz="1100" b="1" dirty="0">
                <a:solidFill>
                  <a:srgbClr val="5B2EFF"/>
                </a:solidFill>
                <a:latin typeface="JetBrains Mono" pitchFamily="34" charset="0"/>
                <a:ea typeface="JetBrains Mono" pitchFamily="34" charset="-122"/>
                <a:cs typeface="JetBrains Mono" pitchFamily="34" charset="-120"/>
              </a:rPr>
              <a:t>color/accent/sun</a:t>
            </a:r>
            <a:endParaRPr lang="en-US" sz="1100" dirty="0"/>
          </a:p>
        </p:txBody>
      </p:sp>
      <p:sp>
        <p:nvSpPr>
          <p:cNvPr id="48" name="Text 46"/>
          <p:cNvSpPr/>
          <p:nvPr/>
        </p:nvSpPr>
        <p:spPr>
          <a:xfrm>
            <a:off x="9203436" y="4206240"/>
            <a:ext cx="1874520" cy="256032"/>
          </a:xfrm>
          <a:prstGeom prst="rect">
            <a:avLst/>
          </a:prstGeom>
          <a:noFill/>
          <a:ln/>
        </p:spPr>
        <p:txBody>
          <a:bodyPr wrap="square" lIns="0" tIns="0" rIns="0" bIns="0" rtlCol="0" anchor="ctr"/>
          <a:lstStyle/>
          <a:p>
            <a:pPr marL="0" indent="0" algn="l">
              <a:buNone/>
            </a:pPr>
            <a:r>
              <a:rPr lang="en-US" sz="950" b="1" dirty="0">
                <a:solidFill>
                  <a:srgbClr val="14121F"/>
                </a:solidFill>
                <a:latin typeface="JetBrains Mono" pitchFamily="34" charset="0"/>
                <a:ea typeface="JetBrains Mono" pitchFamily="34" charset="-122"/>
                <a:cs typeface="JetBrains Mono" pitchFamily="34" charset="-120"/>
              </a:rPr>
              <a:t>Paint Style</a:t>
            </a:r>
            <a:endParaRPr lang="en-US" sz="950" dirty="0"/>
          </a:p>
        </p:txBody>
      </p:sp>
      <p:sp>
        <p:nvSpPr>
          <p:cNvPr id="49" name="Shape 47"/>
          <p:cNvSpPr/>
          <p:nvPr/>
        </p:nvSpPr>
        <p:spPr>
          <a:xfrm>
            <a:off x="8490204" y="4681728"/>
            <a:ext cx="2697480" cy="420624"/>
          </a:xfrm>
          <a:prstGeom prst="roundRect">
            <a:avLst>
              <a:gd name="adj" fmla="val 43478"/>
            </a:avLst>
          </a:prstGeom>
          <a:solidFill>
            <a:srgbClr val="5B2EFF"/>
          </a:solidFill>
          <a:ln w="22225">
            <a:solidFill>
              <a:srgbClr val="14121F"/>
            </a:solidFill>
            <a:prstDash val="solid"/>
          </a:ln>
          <a:effectLst>
            <a:outerShdw blurRad="101600" dist="38100" dir="2700000" algn="bl" rotWithShape="0">
              <a:srgbClr val="14121F">
                <a:alpha val="100000"/>
              </a:srgbClr>
            </a:outerShdw>
          </a:effectLst>
        </p:spPr>
        <p:txBody>
          <a:bodyPr/>
          <a:lstStyle/>
          <a:p>
            <a:endParaRPr lang="de-DE"/>
          </a:p>
        </p:txBody>
      </p:sp>
      <p:sp>
        <p:nvSpPr>
          <p:cNvPr id="50" name="Text 48"/>
          <p:cNvSpPr/>
          <p:nvPr/>
        </p:nvSpPr>
        <p:spPr>
          <a:xfrm>
            <a:off x="8490204" y="4681728"/>
            <a:ext cx="2697480"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JetBrains Mono" pitchFamily="34" charset="0"/>
                <a:ea typeface="JetBrains Mono" pitchFamily="34" charset="-122"/>
                <a:cs typeface="JetBrains Mono" pitchFamily="34" charset="-120"/>
              </a:rPr>
              <a:t>Collection: StyleSnap</a:t>
            </a:r>
            <a:endParaRPr lang="en-US" sz="1100" dirty="0"/>
          </a:p>
        </p:txBody>
      </p:sp>
      <p:sp>
        <p:nvSpPr>
          <p:cNvPr id="51" name="Text 49"/>
          <p:cNvSpPr/>
          <p:nvPr/>
        </p:nvSpPr>
        <p:spPr>
          <a:xfrm>
            <a:off x="8563356" y="5230368"/>
            <a:ext cx="2697480" cy="548640"/>
          </a:xfrm>
          <a:prstGeom prst="rect">
            <a:avLst/>
          </a:prstGeom>
          <a:noFill/>
          <a:ln/>
        </p:spPr>
        <p:txBody>
          <a:bodyPr wrap="square" lIns="0" tIns="0" rIns="0" bIns="0" rtlCol="0" anchor="ctr"/>
          <a:lstStyle/>
          <a:p>
            <a:pPr marL="0" indent="0" algn="l">
              <a:lnSpc>
                <a:spcPct val="115000"/>
              </a:lnSpc>
              <a:buNone/>
            </a:pPr>
            <a:r>
              <a:rPr lang="en-US" sz="1100" b="1" dirty="0">
                <a:solidFill>
                  <a:srgbClr val="14121F"/>
                </a:solidFill>
                <a:latin typeface="Inter" pitchFamily="34" charset="0"/>
                <a:ea typeface="Inter" pitchFamily="34" charset="-122"/>
                <a:cs typeface="Inter" pitchFamily="34" charset="-120"/>
              </a:rPr>
              <a:t>✓ Paint Styles, Text Styles &amp;</a:t>
            </a:r>
            <a:endParaRPr lang="en-US" sz="1100" dirty="0"/>
          </a:p>
          <a:p>
            <a:pPr marL="0" indent="0" algn="l">
              <a:lnSpc>
                <a:spcPct val="115000"/>
              </a:lnSpc>
              <a:buNone/>
            </a:pPr>
            <a:r>
              <a:rPr lang="en-US" sz="1100" b="1" dirty="0">
                <a:solidFill>
                  <a:srgbClr val="14121F"/>
                </a:solidFill>
                <a:latin typeface="Inter" pitchFamily="34" charset="0"/>
                <a:ea typeface="Inter" pitchFamily="34" charset="-122"/>
                <a:cs typeface="Inter" pitchFamily="34" charset="-120"/>
              </a:rPr>
              <a:t>   Variables created</a:t>
            </a:r>
            <a:endParaRPr lang="en-US" sz="1100" dirty="0"/>
          </a:p>
        </p:txBody>
      </p:sp>
      <p:sp>
        <p:nvSpPr>
          <p:cNvPr id="52" name="Text 50"/>
          <p:cNvSpPr/>
          <p:nvPr/>
        </p:nvSpPr>
        <p:spPr>
          <a:xfrm>
            <a:off x="3913632" y="3886200"/>
            <a:ext cx="365760" cy="548640"/>
          </a:xfrm>
          <a:prstGeom prst="rect">
            <a:avLst/>
          </a:prstGeom>
          <a:noFill/>
          <a:ln/>
        </p:spPr>
        <p:txBody>
          <a:bodyPr wrap="square" lIns="0" tIns="0" rIns="0" bIns="0" rtlCol="0" anchor="ctr"/>
          <a:lstStyle/>
          <a:p>
            <a:pPr marL="0" indent="0" algn="ctr">
              <a:buNone/>
            </a:pPr>
            <a:r>
              <a:rPr lang="en-US" sz="2600" b="1" dirty="0">
                <a:solidFill>
                  <a:srgbClr val="14121F"/>
                </a:solidFill>
                <a:latin typeface="Space Grotesk" pitchFamily="34" charset="0"/>
                <a:ea typeface="Space Grotesk" pitchFamily="34" charset="-122"/>
                <a:cs typeface="Space Grotesk" pitchFamily="34" charset="-120"/>
              </a:rPr>
              <a:t>→</a:t>
            </a:r>
            <a:endParaRPr lang="en-US" sz="2600" dirty="0"/>
          </a:p>
        </p:txBody>
      </p:sp>
      <p:sp>
        <p:nvSpPr>
          <p:cNvPr id="53" name="Text 51"/>
          <p:cNvSpPr/>
          <p:nvPr/>
        </p:nvSpPr>
        <p:spPr>
          <a:xfrm>
            <a:off x="7886700" y="3886200"/>
            <a:ext cx="365760" cy="548640"/>
          </a:xfrm>
          <a:prstGeom prst="rect">
            <a:avLst/>
          </a:prstGeom>
          <a:noFill/>
          <a:ln/>
        </p:spPr>
        <p:txBody>
          <a:bodyPr wrap="square" lIns="0" tIns="0" rIns="0" bIns="0" rtlCol="0" anchor="ctr"/>
          <a:lstStyle/>
          <a:p>
            <a:pPr marL="0" indent="0" algn="ctr">
              <a:buNone/>
            </a:pPr>
            <a:r>
              <a:rPr lang="en-US" sz="2600" b="1" dirty="0">
                <a:solidFill>
                  <a:srgbClr val="14121F"/>
                </a:solidFill>
                <a:latin typeface="Space Grotesk" pitchFamily="34" charset="0"/>
                <a:ea typeface="Space Grotesk" pitchFamily="34" charset="-122"/>
                <a:cs typeface="Space Grotesk" pitchFamily="34" charset="-120"/>
              </a:rPr>
              <a:t>→</a:t>
            </a:r>
            <a:endParaRPr lang="en-US" sz="2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640080" y="384048"/>
            <a:ext cx="3657600" cy="365760"/>
          </a:xfrm>
          <a:prstGeom prst="rect">
            <a:avLst/>
          </a:prstGeom>
          <a:noFill/>
          <a:ln/>
        </p:spPr>
        <p:txBody>
          <a:bodyPr wrap="square" lIns="0" tIns="0" rIns="0" bIns="0" rtlCol="0" anchor="ctr"/>
          <a:lstStyle/>
          <a:p>
            <a:pPr marL="0" indent="0" algn="l">
              <a:buNone/>
            </a:pPr>
            <a:r>
              <a:rPr lang="en-US" sz="1800" b="1" dirty="0">
                <a:solidFill>
                  <a:srgbClr val="14121F"/>
                </a:solidFill>
                <a:latin typeface="Space Grotesk" pitchFamily="34" charset="0"/>
                <a:ea typeface="Space Grotesk" pitchFamily="34" charset="-122"/>
                <a:cs typeface="Space Grotesk" pitchFamily="34" charset="-120"/>
              </a:rPr>
              <a:t>Style</a:t>
            </a:r>
            <a:r>
              <a:rPr lang="en-US" sz="1800" b="1" dirty="0">
                <a:solidFill>
                  <a:srgbClr val="5B2EFF"/>
                </a:solidFill>
                <a:latin typeface="Space Grotesk" pitchFamily="34" charset="0"/>
                <a:ea typeface="Space Grotesk" pitchFamily="34" charset="-122"/>
                <a:cs typeface="Space Grotesk" pitchFamily="34" charset="-120"/>
              </a:rPr>
              <a:t>Snap</a:t>
            </a:r>
            <a:endParaRPr lang="en-US" sz="1800" dirty="0"/>
          </a:p>
        </p:txBody>
      </p:sp>
      <p:sp>
        <p:nvSpPr>
          <p:cNvPr id="3" name="Text 1"/>
          <p:cNvSpPr/>
          <p:nvPr/>
        </p:nvSpPr>
        <p:spPr>
          <a:xfrm>
            <a:off x="10561320" y="420624"/>
            <a:ext cx="1005840" cy="292608"/>
          </a:xfrm>
          <a:prstGeom prst="rect">
            <a:avLst/>
          </a:prstGeom>
          <a:noFill/>
          <a:ln/>
        </p:spPr>
        <p:txBody>
          <a:bodyPr wrap="square" lIns="0" tIns="0" rIns="0" bIns="0" rtlCol="0" anchor="ctr"/>
          <a:lstStyle/>
          <a:p>
            <a:pPr marL="0" indent="0" algn="r">
              <a:buNone/>
            </a:pPr>
            <a:r>
              <a:rPr lang="en-US" sz="1000" dirty="0">
                <a:solidFill>
                  <a:srgbClr val="6B6878"/>
                </a:solidFill>
                <a:latin typeface="JetBrains Mono" pitchFamily="34" charset="0"/>
                <a:ea typeface="JetBrains Mono" pitchFamily="34" charset="-122"/>
                <a:cs typeface="JetBrains Mono" pitchFamily="34" charset="-120"/>
              </a:rPr>
              <a:t>07 / 08</a:t>
            </a:r>
            <a:endParaRPr lang="en-US" sz="1000" dirty="0"/>
          </a:p>
        </p:txBody>
      </p:sp>
      <p:sp>
        <p:nvSpPr>
          <p:cNvPr id="4" name="Text 2"/>
          <p:cNvSpPr/>
          <p:nvPr/>
        </p:nvSpPr>
        <p:spPr>
          <a:xfrm>
            <a:off x="621792" y="960120"/>
            <a:ext cx="10972800" cy="914400"/>
          </a:xfrm>
          <a:prstGeom prst="rect">
            <a:avLst/>
          </a:prstGeom>
          <a:noFill/>
          <a:ln/>
        </p:spPr>
        <p:txBody>
          <a:bodyPr wrap="square" lIns="0" tIns="0" rIns="0" bIns="0" rtlCol="0" anchor="ctr"/>
          <a:lstStyle/>
          <a:p>
            <a:pPr marL="0" indent="0" algn="l">
              <a:buNone/>
            </a:pPr>
            <a:r>
              <a:rPr lang="en-US" sz="5200" b="1" dirty="0">
                <a:solidFill>
                  <a:srgbClr val="14121F"/>
                </a:solidFill>
                <a:latin typeface="Space Grotesk" pitchFamily="34" charset="0"/>
                <a:ea typeface="Space Grotesk" pitchFamily="34" charset="-122"/>
                <a:cs typeface="Space Grotesk" pitchFamily="34" charset="-120"/>
              </a:rPr>
              <a:t>Under the hood</a:t>
            </a:r>
            <a:endParaRPr lang="en-US" sz="5200" dirty="0"/>
          </a:p>
        </p:txBody>
      </p:sp>
      <p:sp>
        <p:nvSpPr>
          <p:cNvPr id="5" name="Shape 3"/>
          <p:cNvSpPr/>
          <p:nvPr/>
        </p:nvSpPr>
        <p:spPr>
          <a:xfrm>
            <a:off x="640080" y="2194560"/>
            <a:ext cx="5303520" cy="1371600"/>
          </a:xfrm>
          <a:prstGeom prst="roundRect">
            <a:avLst>
              <a:gd name="adj" fmla="val 8000"/>
            </a:avLst>
          </a:prstGeom>
          <a:solidFill>
            <a:srgbClr val="FFFFFF"/>
          </a:solidFill>
          <a:ln w="28575">
            <a:solidFill>
              <a:srgbClr val="14121F"/>
            </a:solidFill>
            <a:prstDash val="solid"/>
          </a:ln>
          <a:effectLst>
            <a:outerShdw blurRad="101600" dist="63500" dir="2700000" algn="bl" rotWithShape="0">
              <a:srgbClr val="14121F">
                <a:alpha val="100000"/>
              </a:srgbClr>
            </a:outerShdw>
          </a:effectLst>
        </p:spPr>
        <p:txBody>
          <a:bodyPr/>
          <a:lstStyle/>
          <a:p>
            <a:endParaRPr lang="de-DE"/>
          </a:p>
        </p:txBody>
      </p:sp>
      <p:sp>
        <p:nvSpPr>
          <p:cNvPr id="6" name="Shape 4"/>
          <p:cNvSpPr/>
          <p:nvPr/>
        </p:nvSpPr>
        <p:spPr>
          <a:xfrm>
            <a:off x="914400" y="2487168"/>
            <a:ext cx="384048" cy="384048"/>
          </a:xfrm>
          <a:prstGeom prst="roundRect">
            <a:avLst>
              <a:gd name="adj" fmla="val 21429"/>
            </a:avLst>
          </a:prstGeom>
          <a:solidFill>
            <a:srgbClr val="5B2EFF"/>
          </a:solidFill>
          <a:ln w="19050">
            <a:solidFill>
              <a:srgbClr val="14121F"/>
            </a:solidFill>
            <a:prstDash val="solid"/>
          </a:ln>
        </p:spPr>
        <p:txBody>
          <a:bodyPr/>
          <a:lstStyle/>
          <a:p>
            <a:endParaRPr lang="de-DE"/>
          </a:p>
        </p:txBody>
      </p:sp>
      <p:sp>
        <p:nvSpPr>
          <p:cNvPr id="7" name="Text 5"/>
          <p:cNvSpPr/>
          <p:nvPr/>
        </p:nvSpPr>
        <p:spPr>
          <a:xfrm>
            <a:off x="1481328" y="2423160"/>
            <a:ext cx="4206240" cy="502920"/>
          </a:xfrm>
          <a:prstGeom prst="rect">
            <a:avLst/>
          </a:prstGeom>
          <a:noFill/>
          <a:ln/>
        </p:spPr>
        <p:txBody>
          <a:bodyPr wrap="square" lIns="0" tIns="0" rIns="0" bIns="0" rtlCol="0" anchor="ctr"/>
          <a:lstStyle/>
          <a:p>
            <a:pPr marL="0" indent="0" algn="l">
              <a:buNone/>
            </a:pPr>
            <a:r>
              <a:rPr lang="en-US" sz="1600" b="1" dirty="0">
                <a:solidFill>
                  <a:srgbClr val="14121F"/>
                </a:solidFill>
                <a:latin typeface="Space Grotesk" pitchFamily="34" charset="0"/>
                <a:ea typeface="Space Grotesk" pitchFamily="34" charset="-122"/>
                <a:cs typeface="Space Grotesk" pitchFamily="34" charset="-120"/>
              </a:rPr>
              <a:t>Single source of truth</a:t>
            </a:r>
            <a:endParaRPr lang="en-US" sz="1600" dirty="0"/>
          </a:p>
        </p:txBody>
      </p:sp>
      <p:sp>
        <p:nvSpPr>
          <p:cNvPr id="8" name="Text 6"/>
          <p:cNvSpPr/>
          <p:nvPr/>
        </p:nvSpPr>
        <p:spPr>
          <a:xfrm>
            <a:off x="1481328" y="2907792"/>
            <a:ext cx="4251960" cy="594360"/>
          </a:xfrm>
          <a:prstGeom prst="rect">
            <a:avLst/>
          </a:prstGeom>
          <a:noFill/>
          <a:ln/>
        </p:spPr>
        <p:txBody>
          <a:bodyPr wrap="square" lIns="0" tIns="0" rIns="0" bIns="0" rtlCol="0" anchor="ctr"/>
          <a:lstStyle/>
          <a:p>
            <a:pPr marL="0" indent="0" algn="l">
              <a:lnSpc>
                <a:spcPct val="112000"/>
              </a:lnSpc>
              <a:buNone/>
            </a:pPr>
            <a:r>
              <a:rPr lang="en-US" sz="1200" dirty="0">
                <a:solidFill>
                  <a:srgbClr val="6B6878"/>
                </a:solidFill>
                <a:latin typeface="Inter" pitchFamily="34" charset="0"/>
                <a:ea typeface="Inter" pitchFamily="34" charset="-122"/>
                <a:cs typeface="Inter" pitchFamily="34" charset="-120"/>
              </a:rPr>
              <a:t>One shared types.ts (v2.0) defines every token type — copied verbatim across all three repos, drift-guarded by meta.version.</a:t>
            </a:r>
            <a:endParaRPr lang="en-US" sz="1200" dirty="0"/>
          </a:p>
        </p:txBody>
      </p:sp>
      <p:sp>
        <p:nvSpPr>
          <p:cNvPr id="9" name="Shape 7"/>
          <p:cNvSpPr/>
          <p:nvPr/>
        </p:nvSpPr>
        <p:spPr>
          <a:xfrm>
            <a:off x="6217920" y="2194560"/>
            <a:ext cx="5303520" cy="1371600"/>
          </a:xfrm>
          <a:prstGeom prst="roundRect">
            <a:avLst>
              <a:gd name="adj" fmla="val 8000"/>
            </a:avLst>
          </a:prstGeom>
          <a:solidFill>
            <a:srgbClr val="FFFFFF"/>
          </a:solidFill>
          <a:ln w="28575">
            <a:solidFill>
              <a:srgbClr val="14121F"/>
            </a:solidFill>
            <a:prstDash val="solid"/>
          </a:ln>
          <a:effectLst>
            <a:outerShdw blurRad="101600" dist="63500" dir="2700000" algn="bl" rotWithShape="0">
              <a:srgbClr val="14121F">
                <a:alpha val="100000"/>
              </a:srgbClr>
            </a:outerShdw>
          </a:effectLst>
        </p:spPr>
        <p:txBody>
          <a:bodyPr/>
          <a:lstStyle/>
          <a:p>
            <a:endParaRPr lang="de-DE"/>
          </a:p>
        </p:txBody>
      </p:sp>
      <p:sp>
        <p:nvSpPr>
          <p:cNvPr id="10" name="Shape 8"/>
          <p:cNvSpPr/>
          <p:nvPr/>
        </p:nvSpPr>
        <p:spPr>
          <a:xfrm>
            <a:off x="6492240" y="2487168"/>
            <a:ext cx="384048" cy="384048"/>
          </a:xfrm>
          <a:prstGeom prst="roundRect">
            <a:avLst>
              <a:gd name="adj" fmla="val 21429"/>
            </a:avLst>
          </a:prstGeom>
          <a:solidFill>
            <a:srgbClr val="5B2EFF"/>
          </a:solidFill>
          <a:ln w="19050">
            <a:solidFill>
              <a:srgbClr val="14121F"/>
            </a:solidFill>
            <a:prstDash val="solid"/>
          </a:ln>
        </p:spPr>
        <p:txBody>
          <a:bodyPr/>
          <a:lstStyle/>
          <a:p>
            <a:endParaRPr lang="de-DE"/>
          </a:p>
        </p:txBody>
      </p:sp>
      <p:sp>
        <p:nvSpPr>
          <p:cNvPr id="11" name="Text 9"/>
          <p:cNvSpPr/>
          <p:nvPr/>
        </p:nvSpPr>
        <p:spPr>
          <a:xfrm>
            <a:off x="7059168" y="2423160"/>
            <a:ext cx="4206240" cy="502920"/>
          </a:xfrm>
          <a:prstGeom prst="rect">
            <a:avLst/>
          </a:prstGeom>
          <a:noFill/>
          <a:ln/>
        </p:spPr>
        <p:txBody>
          <a:bodyPr wrap="square" lIns="0" tIns="0" rIns="0" bIns="0" rtlCol="0" anchor="ctr"/>
          <a:lstStyle/>
          <a:p>
            <a:pPr marL="0" indent="0" algn="l">
              <a:buNone/>
            </a:pPr>
            <a:r>
              <a:rPr lang="en-US" sz="1600" b="1" dirty="0">
                <a:solidFill>
                  <a:srgbClr val="14121F"/>
                </a:solidFill>
                <a:latin typeface="Space Grotesk" pitchFamily="34" charset="0"/>
                <a:ea typeface="Space Grotesk" pitchFamily="34" charset="-122"/>
                <a:cs typeface="Space Grotesk" pitchFamily="34" charset="-120"/>
              </a:rPr>
              <a:t>Suggestive, never destructive</a:t>
            </a:r>
            <a:endParaRPr lang="en-US" sz="1600" dirty="0"/>
          </a:p>
        </p:txBody>
      </p:sp>
      <p:sp>
        <p:nvSpPr>
          <p:cNvPr id="12" name="Text 10"/>
          <p:cNvSpPr/>
          <p:nvPr/>
        </p:nvSpPr>
        <p:spPr>
          <a:xfrm>
            <a:off x="7059168" y="2907792"/>
            <a:ext cx="4251960" cy="594360"/>
          </a:xfrm>
          <a:prstGeom prst="rect">
            <a:avLst/>
          </a:prstGeom>
          <a:noFill/>
          <a:ln/>
        </p:spPr>
        <p:txBody>
          <a:bodyPr wrap="square" lIns="0" tIns="0" rIns="0" bIns="0" rtlCol="0" anchor="ctr"/>
          <a:lstStyle/>
          <a:p>
            <a:pPr marL="0" indent="0" algn="l">
              <a:lnSpc>
                <a:spcPct val="112000"/>
              </a:lnSpc>
              <a:buNone/>
            </a:pPr>
            <a:r>
              <a:rPr lang="en-US" sz="1200" dirty="0">
                <a:solidFill>
                  <a:srgbClr val="6B6878"/>
                </a:solidFill>
                <a:latin typeface="Inter" pitchFamily="34" charset="0"/>
                <a:ea typeface="Inter" pitchFamily="34" charset="-122"/>
                <a:cs typeface="Inter" pitchFamily="34" charset="-120"/>
              </a:rPr>
              <a:t>The tool detects and suggests; only the human merges. Everything is reversible until “Create System”.</a:t>
            </a:r>
            <a:endParaRPr lang="en-US" sz="1200" dirty="0"/>
          </a:p>
        </p:txBody>
      </p:sp>
      <p:sp>
        <p:nvSpPr>
          <p:cNvPr id="13" name="Shape 11"/>
          <p:cNvSpPr/>
          <p:nvPr/>
        </p:nvSpPr>
        <p:spPr>
          <a:xfrm>
            <a:off x="640080" y="3794760"/>
            <a:ext cx="5303520" cy="1371600"/>
          </a:xfrm>
          <a:prstGeom prst="roundRect">
            <a:avLst>
              <a:gd name="adj" fmla="val 8000"/>
            </a:avLst>
          </a:prstGeom>
          <a:solidFill>
            <a:srgbClr val="FFFFFF"/>
          </a:solidFill>
          <a:ln w="28575">
            <a:solidFill>
              <a:srgbClr val="14121F"/>
            </a:solidFill>
            <a:prstDash val="solid"/>
          </a:ln>
          <a:effectLst>
            <a:outerShdw blurRad="101600" dist="63500" dir="2700000" algn="bl" rotWithShape="0">
              <a:srgbClr val="14121F">
                <a:alpha val="100000"/>
              </a:srgbClr>
            </a:outerShdw>
          </a:effectLst>
        </p:spPr>
        <p:txBody>
          <a:bodyPr/>
          <a:lstStyle/>
          <a:p>
            <a:endParaRPr lang="de-DE"/>
          </a:p>
        </p:txBody>
      </p:sp>
      <p:sp>
        <p:nvSpPr>
          <p:cNvPr id="14" name="Shape 12"/>
          <p:cNvSpPr/>
          <p:nvPr/>
        </p:nvSpPr>
        <p:spPr>
          <a:xfrm>
            <a:off x="914400" y="4087368"/>
            <a:ext cx="384048" cy="384048"/>
          </a:xfrm>
          <a:prstGeom prst="roundRect">
            <a:avLst>
              <a:gd name="adj" fmla="val 21429"/>
            </a:avLst>
          </a:prstGeom>
          <a:solidFill>
            <a:srgbClr val="5B2EFF"/>
          </a:solidFill>
          <a:ln w="19050">
            <a:solidFill>
              <a:srgbClr val="14121F"/>
            </a:solidFill>
            <a:prstDash val="solid"/>
          </a:ln>
        </p:spPr>
        <p:txBody>
          <a:bodyPr/>
          <a:lstStyle/>
          <a:p>
            <a:endParaRPr lang="de-DE"/>
          </a:p>
        </p:txBody>
      </p:sp>
      <p:sp>
        <p:nvSpPr>
          <p:cNvPr id="15" name="Text 13"/>
          <p:cNvSpPr/>
          <p:nvPr/>
        </p:nvSpPr>
        <p:spPr>
          <a:xfrm>
            <a:off x="1481328" y="4023360"/>
            <a:ext cx="4206240" cy="502920"/>
          </a:xfrm>
          <a:prstGeom prst="rect">
            <a:avLst/>
          </a:prstGeom>
          <a:noFill/>
          <a:ln/>
        </p:spPr>
        <p:txBody>
          <a:bodyPr wrap="square" lIns="0" tIns="0" rIns="0" bIns="0" rtlCol="0" anchor="ctr"/>
          <a:lstStyle/>
          <a:p>
            <a:pPr marL="0" indent="0" algn="l">
              <a:buNone/>
            </a:pPr>
            <a:r>
              <a:rPr lang="en-US" sz="1600" b="1" dirty="0">
                <a:solidFill>
                  <a:srgbClr val="14121F"/>
                </a:solidFill>
                <a:latin typeface="Space Grotesk" pitchFamily="34" charset="0"/>
                <a:ea typeface="Space Grotesk" pitchFamily="34" charset="-122"/>
                <a:cs typeface="Space Grotesk" pitchFamily="34" charset="-120"/>
              </a:rPr>
              <a:t>Deterministic design.md</a:t>
            </a:r>
            <a:endParaRPr lang="en-US" sz="1600" dirty="0"/>
          </a:p>
        </p:txBody>
      </p:sp>
      <p:sp>
        <p:nvSpPr>
          <p:cNvPr id="16" name="Text 14"/>
          <p:cNvSpPr/>
          <p:nvPr/>
        </p:nvSpPr>
        <p:spPr>
          <a:xfrm>
            <a:off x="1481328" y="4507992"/>
            <a:ext cx="4251960" cy="594360"/>
          </a:xfrm>
          <a:prstGeom prst="rect">
            <a:avLst/>
          </a:prstGeom>
          <a:noFill/>
          <a:ln/>
        </p:spPr>
        <p:txBody>
          <a:bodyPr wrap="square" lIns="0" tIns="0" rIns="0" bIns="0" rtlCol="0" anchor="ctr"/>
          <a:lstStyle/>
          <a:p>
            <a:pPr marL="0" indent="0" algn="l">
              <a:lnSpc>
                <a:spcPct val="112000"/>
              </a:lnSpc>
              <a:buNone/>
            </a:pPr>
            <a:r>
              <a:rPr lang="en-US" sz="1200" dirty="0">
                <a:solidFill>
                  <a:srgbClr val="6B6878"/>
                </a:solidFill>
                <a:latin typeface="Inter" pitchFamily="34" charset="0"/>
                <a:ea typeface="Inter" pitchFamily="34" charset="-122"/>
                <a:cs typeface="Inter" pitchFamily="34" charset="-120"/>
              </a:rPr>
              <a:t>Fixed ordering (type → role → name → value) — re-exports diff cleanly, ideal for version control.</a:t>
            </a:r>
            <a:endParaRPr lang="en-US" sz="1200" dirty="0"/>
          </a:p>
        </p:txBody>
      </p:sp>
      <p:sp>
        <p:nvSpPr>
          <p:cNvPr id="17" name="Shape 15"/>
          <p:cNvSpPr/>
          <p:nvPr/>
        </p:nvSpPr>
        <p:spPr>
          <a:xfrm>
            <a:off x="6217920" y="3794760"/>
            <a:ext cx="5303520" cy="1371600"/>
          </a:xfrm>
          <a:prstGeom prst="roundRect">
            <a:avLst>
              <a:gd name="adj" fmla="val 8000"/>
            </a:avLst>
          </a:prstGeom>
          <a:solidFill>
            <a:srgbClr val="FFFFFF"/>
          </a:solidFill>
          <a:ln w="28575">
            <a:solidFill>
              <a:srgbClr val="14121F"/>
            </a:solidFill>
            <a:prstDash val="solid"/>
          </a:ln>
          <a:effectLst>
            <a:outerShdw blurRad="101600" dist="63500" dir="2700000" algn="bl" rotWithShape="0">
              <a:srgbClr val="14121F">
                <a:alpha val="100000"/>
              </a:srgbClr>
            </a:outerShdw>
          </a:effectLst>
        </p:spPr>
        <p:txBody>
          <a:bodyPr/>
          <a:lstStyle/>
          <a:p>
            <a:endParaRPr lang="de-DE"/>
          </a:p>
        </p:txBody>
      </p:sp>
      <p:sp>
        <p:nvSpPr>
          <p:cNvPr id="18" name="Shape 16"/>
          <p:cNvSpPr/>
          <p:nvPr/>
        </p:nvSpPr>
        <p:spPr>
          <a:xfrm>
            <a:off x="6492240" y="4087368"/>
            <a:ext cx="384048" cy="384048"/>
          </a:xfrm>
          <a:prstGeom prst="roundRect">
            <a:avLst>
              <a:gd name="adj" fmla="val 21429"/>
            </a:avLst>
          </a:prstGeom>
          <a:solidFill>
            <a:srgbClr val="5B2EFF"/>
          </a:solidFill>
          <a:ln w="19050">
            <a:solidFill>
              <a:srgbClr val="14121F"/>
            </a:solidFill>
            <a:prstDash val="solid"/>
          </a:ln>
        </p:spPr>
        <p:txBody>
          <a:bodyPr/>
          <a:lstStyle/>
          <a:p>
            <a:endParaRPr lang="de-DE"/>
          </a:p>
        </p:txBody>
      </p:sp>
      <p:sp>
        <p:nvSpPr>
          <p:cNvPr id="19" name="Text 17"/>
          <p:cNvSpPr/>
          <p:nvPr/>
        </p:nvSpPr>
        <p:spPr>
          <a:xfrm>
            <a:off x="7059168" y="4023360"/>
            <a:ext cx="4206240" cy="502920"/>
          </a:xfrm>
          <a:prstGeom prst="rect">
            <a:avLst/>
          </a:prstGeom>
          <a:noFill/>
          <a:ln/>
        </p:spPr>
        <p:txBody>
          <a:bodyPr wrap="square" lIns="0" tIns="0" rIns="0" bIns="0" rtlCol="0" anchor="ctr"/>
          <a:lstStyle/>
          <a:p>
            <a:pPr marL="0" indent="0" algn="l">
              <a:buNone/>
            </a:pPr>
            <a:r>
              <a:rPr lang="en-US" sz="1600" b="1" dirty="0">
                <a:solidFill>
                  <a:srgbClr val="14121F"/>
                </a:solidFill>
                <a:latin typeface="Space Grotesk" pitchFamily="34" charset="0"/>
                <a:ea typeface="Space Grotesk" pitchFamily="34" charset="-122"/>
                <a:cs typeface="Space Grotesk" pitchFamily="34" charset="-120"/>
              </a:rPr>
              <a:t>Live on Vercel</a:t>
            </a:r>
            <a:endParaRPr lang="en-US" sz="1600" dirty="0"/>
          </a:p>
        </p:txBody>
      </p:sp>
      <p:sp>
        <p:nvSpPr>
          <p:cNvPr id="20" name="Text 18"/>
          <p:cNvSpPr/>
          <p:nvPr/>
        </p:nvSpPr>
        <p:spPr>
          <a:xfrm>
            <a:off x="7059168" y="4507992"/>
            <a:ext cx="4251960" cy="594360"/>
          </a:xfrm>
          <a:prstGeom prst="rect">
            <a:avLst/>
          </a:prstGeom>
          <a:noFill/>
          <a:ln/>
        </p:spPr>
        <p:txBody>
          <a:bodyPr wrap="square" lIns="0" tIns="0" rIns="0" bIns="0" rtlCol="0" anchor="ctr"/>
          <a:lstStyle/>
          <a:p>
            <a:pPr marL="0" indent="0" algn="l">
              <a:lnSpc>
                <a:spcPct val="112000"/>
              </a:lnSpc>
              <a:buNone/>
            </a:pPr>
            <a:r>
              <a:rPr lang="en-US" sz="1200" dirty="0">
                <a:solidFill>
                  <a:srgbClr val="6B6878"/>
                </a:solidFill>
                <a:latin typeface="Inter" pitchFamily="34" charset="0"/>
                <a:ea typeface="Inter" pitchFamily="34" charset="-122"/>
                <a:cs typeface="Inter" pitchFamily="34" charset="-120"/>
              </a:rPr>
              <a:t>The webtool auto-deploys on every push to main — testable at any time.</a:t>
            </a:r>
            <a:endParaRPr lang="en-US" sz="1200" dirty="0"/>
          </a:p>
        </p:txBody>
      </p:sp>
      <p:sp>
        <p:nvSpPr>
          <p:cNvPr id="21" name="Shape 19"/>
          <p:cNvSpPr/>
          <p:nvPr/>
        </p:nvSpPr>
        <p:spPr>
          <a:xfrm>
            <a:off x="640080" y="5486400"/>
            <a:ext cx="10899648" cy="1005840"/>
          </a:xfrm>
          <a:prstGeom prst="roundRect">
            <a:avLst>
              <a:gd name="adj" fmla="val 10909"/>
            </a:avLst>
          </a:prstGeom>
          <a:solidFill>
            <a:srgbClr val="FFFFFF"/>
          </a:solidFill>
          <a:ln w="28575">
            <a:solidFill>
              <a:srgbClr val="14121F"/>
            </a:solidFill>
            <a:prstDash val="solid"/>
          </a:ln>
          <a:effectLst>
            <a:outerShdw blurRad="101600" dist="63500" dir="2700000" algn="bl" rotWithShape="0">
              <a:srgbClr val="14121F">
                <a:alpha val="100000"/>
              </a:srgbClr>
            </a:outerShdw>
          </a:effectLst>
        </p:spPr>
        <p:txBody>
          <a:bodyPr/>
          <a:lstStyle/>
          <a:p>
            <a:endParaRPr lang="de-DE"/>
          </a:p>
        </p:txBody>
      </p:sp>
      <p:sp>
        <p:nvSpPr>
          <p:cNvPr id="22" name="Text 20"/>
          <p:cNvSpPr/>
          <p:nvPr/>
        </p:nvSpPr>
        <p:spPr>
          <a:xfrm>
            <a:off x="914400" y="5486400"/>
            <a:ext cx="10424160" cy="1005840"/>
          </a:xfrm>
          <a:prstGeom prst="rect">
            <a:avLst/>
          </a:prstGeom>
          <a:noFill/>
          <a:ln/>
        </p:spPr>
        <p:txBody>
          <a:bodyPr wrap="square" lIns="0" tIns="0" rIns="0" bIns="0" rtlCol="0" anchor="ctr"/>
          <a:lstStyle/>
          <a:p>
            <a:pPr marL="0" indent="0" algn="l">
              <a:buNone/>
            </a:pPr>
            <a:r>
              <a:rPr lang="en-US" sz="1500" b="1" dirty="0">
                <a:solidFill>
                  <a:srgbClr val="5B2EFF"/>
                </a:solidFill>
                <a:latin typeface="Space Grotesk" pitchFamily="34" charset="0"/>
                <a:ea typeface="Space Grotesk" pitchFamily="34" charset="-122"/>
                <a:cs typeface="Space Grotesk" pitchFamily="34" charset="-120"/>
              </a:rPr>
              <a:t>What's next:  </a:t>
            </a:r>
            <a:r>
              <a:rPr lang="en-US" sz="1300" dirty="0">
                <a:solidFill>
                  <a:srgbClr val="14121F"/>
                </a:solidFill>
                <a:latin typeface="Inter" pitchFamily="34" charset="0"/>
                <a:ea typeface="Inter" pitchFamily="34" charset="-122"/>
                <a:cs typeface="Inter" pitchFamily="34" charset="-120"/>
              </a:rPr>
              <a:t>component reconstruction via captureId · alignment with the W3C Design Tokens standard · dark-mode export.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640080" y="384048"/>
            <a:ext cx="3657600" cy="365760"/>
          </a:xfrm>
          <a:prstGeom prst="rect">
            <a:avLst/>
          </a:prstGeom>
          <a:noFill/>
          <a:ln/>
        </p:spPr>
        <p:txBody>
          <a:bodyPr wrap="square" lIns="0" tIns="0" rIns="0" bIns="0" rtlCol="0" anchor="ctr"/>
          <a:lstStyle/>
          <a:p>
            <a:pPr marL="0" indent="0" algn="l">
              <a:buNone/>
            </a:pPr>
            <a:r>
              <a:rPr lang="en-US" sz="1800" b="1" dirty="0">
                <a:solidFill>
                  <a:srgbClr val="14121F"/>
                </a:solidFill>
                <a:latin typeface="Space Grotesk" pitchFamily="34" charset="0"/>
                <a:ea typeface="Space Grotesk" pitchFamily="34" charset="-122"/>
                <a:cs typeface="Space Grotesk" pitchFamily="34" charset="-120"/>
              </a:rPr>
              <a:t>Style</a:t>
            </a:r>
            <a:r>
              <a:rPr lang="en-US" sz="1800" b="1" dirty="0">
                <a:solidFill>
                  <a:srgbClr val="5B2EFF"/>
                </a:solidFill>
                <a:latin typeface="Space Grotesk" pitchFamily="34" charset="0"/>
                <a:ea typeface="Space Grotesk" pitchFamily="34" charset="-122"/>
                <a:cs typeface="Space Grotesk" pitchFamily="34" charset="-120"/>
              </a:rPr>
              <a:t>Snap</a:t>
            </a:r>
            <a:endParaRPr lang="en-US" sz="1800" dirty="0"/>
          </a:p>
        </p:txBody>
      </p:sp>
      <p:sp>
        <p:nvSpPr>
          <p:cNvPr id="3" name="Text 1"/>
          <p:cNvSpPr/>
          <p:nvPr/>
        </p:nvSpPr>
        <p:spPr>
          <a:xfrm>
            <a:off x="10561320" y="420624"/>
            <a:ext cx="1005840" cy="292608"/>
          </a:xfrm>
          <a:prstGeom prst="rect">
            <a:avLst/>
          </a:prstGeom>
          <a:noFill/>
          <a:ln/>
        </p:spPr>
        <p:txBody>
          <a:bodyPr wrap="square" lIns="0" tIns="0" rIns="0" bIns="0" rtlCol="0" anchor="ctr"/>
          <a:lstStyle/>
          <a:p>
            <a:pPr marL="0" indent="0" algn="r">
              <a:buNone/>
            </a:pPr>
            <a:r>
              <a:rPr lang="en-US" sz="1000" dirty="0">
                <a:solidFill>
                  <a:srgbClr val="6B6878"/>
                </a:solidFill>
                <a:latin typeface="JetBrains Mono" pitchFamily="34" charset="0"/>
                <a:ea typeface="JetBrains Mono" pitchFamily="34" charset="-122"/>
                <a:cs typeface="JetBrains Mono" pitchFamily="34" charset="-120"/>
              </a:rPr>
              <a:t>08 / 08</a:t>
            </a:r>
            <a:endParaRPr lang="en-US" sz="1000" dirty="0"/>
          </a:p>
        </p:txBody>
      </p:sp>
      <p:sp>
        <p:nvSpPr>
          <p:cNvPr id="4" name="Text 2"/>
          <p:cNvSpPr/>
          <p:nvPr/>
        </p:nvSpPr>
        <p:spPr>
          <a:xfrm>
            <a:off x="621792" y="960120"/>
            <a:ext cx="10972800" cy="914400"/>
          </a:xfrm>
          <a:prstGeom prst="rect">
            <a:avLst/>
          </a:prstGeom>
          <a:noFill/>
          <a:ln/>
        </p:spPr>
        <p:txBody>
          <a:bodyPr wrap="square" lIns="0" tIns="0" rIns="0" bIns="0" rtlCol="0" anchor="ctr"/>
          <a:lstStyle/>
          <a:p>
            <a:pPr marL="0" indent="0" algn="l">
              <a:buNone/>
            </a:pPr>
            <a:r>
              <a:rPr lang="en-US" sz="5200" b="1" dirty="0">
                <a:solidFill>
                  <a:srgbClr val="14121F"/>
                </a:solidFill>
                <a:latin typeface="Space Grotesk" pitchFamily="34" charset="0"/>
                <a:ea typeface="Space Grotesk" pitchFamily="34" charset="-122"/>
                <a:cs typeface="Space Grotesk" pitchFamily="34" charset="-120"/>
              </a:rPr>
              <a:t>The team</a:t>
            </a:r>
            <a:endParaRPr lang="en-US" sz="5200" dirty="0"/>
          </a:p>
        </p:txBody>
      </p:sp>
      <p:sp>
        <p:nvSpPr>
          <p:cNvPr id="5" name="Text 3"/>
          <p:cNvSpPr/>
          <p:nvPr/>
        </p:nvSpPr>
        <p:spPr>
          <a:xfrm>
            <a:off x="658368" y="1874520"/>
            <a:ext cx="10789920" cy="457200"/>
          </a:xfrm>
          <a:prstGeom prst="rect">
            <a:avLst/>
          </a:prstGeom>
          <a:noFill/>
          <a:ln/>
        </p:spPr>
        <p:txBody>
          <a:bodyPr wrap="square" lIns="0" tIns="0" rIns="0" bIns="0" rtlCol="0" anchor="ctr"/>
          <a:lstStyle/>
          <a:p>
            <a:pPr marL="0" indent="0" algn="l">
              <a:buNone/>
            </a:pPr>
            <a:r>
              <a:rPr lang="en-US" sz="1500" dirty="0">
                <a:solidFill>
                  <a:srgbClr val="6B6878"/>
                </a:solidFill>
                <a:latin typeface="Inter" pitchFamily="34" charset="0"/>
                <a:ea typeface="Inter" pitchFamily="34" charset="-122"/>
                <a:cs typeface="Inter" pitchFamily="34" charset="-120"/>
              </a:rPr>
              <a:t>Three people, three surfaces, one schema.</a:t>
            </a:r>
            <a:endParaRPr lang="en-US" sz="1500" dirty="0"/>
          </a:p>
        </p:txBody>
      </p:sp>
      <p:sp>
        <p:nvSpPr>
          <p:cNvPr id="6" name="Shape 4"/>
          <p:cNvSpPr/>
          <p:nvPr/>
        </p:nvSpPr>
        <p:spPr>
          <a:xfrm>
            <a:off x="640080" y="2514600"/>
            <a:ext cx="3456432" cy="2651760"/>
          </a:xfrm>
          <a:prstGeom prst="roundRect">
            <a:avLst>
              <a:gd name="adj" fmla="val 4828"/>
            </a:avLst>
          </a:prstGeom>
          <a:solidFill>
            <a:srgbClr val="FFFFFF"/>
          </a:solidFill>
          <a:ln w="28575">
            <a:solidFill>
              <a:srgbClr val="14121F"/>
            </a:solidFill>
            <a:prstDash val="solid"/>
          </a:ln>
          <a:effectLst>
            <a:outerShdw blurRad="101600" dist="76200" dir="2700000" algn="bl" rotWithShape="0">
              <a:srgbClr val="14121F">
                <a:alpha val="100000"/>
              </a:srgbClr>
            </a:outerShdw>
          </a:effectLst>
        </p:spPr>
        <p:txBody>
          <a:bodyPr/>
          <a:lstStyle/>
          <a:p>
            <a:endParaRPr lang="de-DE"/>
          </a:p>
        </p:txBody>
      </p:sp>
      <p:sp>
        <p:nvSpPr>
          <p:cNvPr id="7" name="Shape 5"/>
          <p:cNvSpPr/>
          <p:nvPr/>
        </p:nvSpPr>
        <p:spPr>
          <a:xfrm>
            <a:off x="950976" y="2834640"/>
            <a:ext cx="566928" cy="566928"/>
          </a:xfrm>
          <a:prstGeom prst="roundRect">
            <a:avLst>
              <a:gd name="adj" fmla="val 50000"/>
            </a:avLst>
          </a:prstGeom>
          <a:solidFill>
            <a:srgbClr val="5B2EFF"/>
          </a:solidFill>
          <a:ln w="22225">
            <a:solidFill>
              <a:srgbClr val="14121F"/>
            </a:solidFill>
            <a:prstDash val="solid"/>
          </a:ln>
        </p:spPr>
        <p:txBody>
          <a:bodyPr/>
          <a:lstStyle/>
          <a:p>
            <a:endParaRPr lang="de-DE"/>
          </a:p>
        </p:txBody>
      </p:sp>
      <p:sp>
        <p:nvSpPr>
          <p:cNvPr id="8" name="Text 6"/>
          <p:cNvSpPr/>
          <p:nvPr/>
        </p:nvSpPr>
        <p:spPr>
          <a:xfrm>
            <a:off x="950976" y="3566160"/>
            <a:ext cx="2880360" cy="457200"/>
          </a:xfrm>
          <a:prstGeom prst="rect">
            <a:avLst/>
          </a:prstGeom>
          <a:noFill/>
          <a:ln/>
        </p:spPr>
        <p:txBody>
          <a:bodyPr wrap="square" lIns="0" tIns="0" rIns="0" bIns="0" rtlCol="0" anchor="ctr"/>
          <a:lstStyle/>
          <a:p>
            <a:pPr marL="0" indent="0" algn="l">
              <a:buNone/>
            </a:pPr>
            <a:r>
              <a:rPr lang="en-US" sz="1900" b="1" dirty="0">
                <a:solidFill>
                  <a:srgbClr val="14121F"/>
                </a:solidFill>
                <a:latin typeface="Space Grotesk" pitchFamily="34" charset="0"/>
                <a:ea typeface="Space Grotesk" pitchFamily="34" charset="-122"/>
                <a:cs typeface="Space Grotesk" pitchFamily="34" charset="-120"/>
              </a:rPr>
              <a:t>Theresa</a:t>
            </a:r>
            <a:endParaRPr lang="en-US" sz="1900" dirty="0"/>
          </a:p>
        </p:txBody>
      </p:sp>
      <p:sp>
        <p:nvSpPr>
          <p:cNvPr id="9" name="Text 7"/>
          <p:cNvSpPr/>
          <p:nvPr/>
        </p:nvSpPr>
        <p:spPr>
          <a:xfrm>
            <a:off x="950976" y="4041648"/>
            <a:ext cx="2880360" cy="365760"/>
          </a:xfrm>
          <a:prstGeom prst="rect">
            <a:avLst/>
          </a:prstGeom>
          <a:noFill/>
          <a:ln/>
        </p:spPr>
        <p:txBody>
          <a:bodyPr wrap="square" lIns="0" tIns="0" rIns="0" bIns="0" rtlCol="0" anchor="ctr"/>
          <a:lstStyle/>
          <a:p>
            <a:pPr marL="0" indent="0" algn="l">
              <a:buNone/>
            </a:pPr>
            <a:r>
              <a:rPr lang="en-US" sz="1200" b="1" dirty="0">
                <a:solidFill>
                  <a:srgbClr val="5B2EFF"/>
                </a:solidFill>
                <a:latin typeface="JetBrains Mono" pitchFamily="34" charset="0"/>
                <a:ea typeface="JetBrains Mono" pitchFamily="34" charset="-122"/>
                <a:cs typeface="JetBrains Mono" pitchFamily="34" charset="-120"/>
              </a:rPr>
              <a:t>Figma plugin</a:t>
            </a:r>
            <a:endParaRPr lang="en-US" sz="1200" dirty="0"/>
          </a:p>
        </p:txBody>
      </p:sp>
      <p:sp>
        <p:nvSpPr>
          <p:cNvPr id="10" name="Text 8"/>
          <p:cNvSpPr/>
          <p:nvPr/>
        </p:nvSpPr>
        <p:spPr>
          <a:xfrm>
            <a:off x="950976" y="4462272"/>
            <a:ext cx="2880360" cy="640080"/>
          </a:xfrm>
          <a:prstGeom prst="rect">
            <a:avLst/>
          </a:prstGeom>
          <a:noFill/>
          <a:ln/>
        </p:spPr>
        <p:txBody>
          <a:bodyPr wrap="square" lIns="0" tIns="0" rIns="0" bIns="0" rtlCol="0" anchor="ctr"/>
          <a:lstStyle/>
          <a:p>
            <a:pPr marL="0" indent="0" algn="l">
              <a:lnSpc>
                <a:spcPct val="115000"/>
              </a:lnSpc>
              <a:buNone/>
            </a:pPr>
            <a:r>
              <a:rPr lang="en-US" sz="1200" dirty="0">
                <a:solidFill>
                  <a:srgbClr val="6B6878"/>
                </a:solidFill>
                <a:latin typeface="Inter" pitchFamily="34" charset="0"/>
                <a:ea typeface="Inter" pitchFamily="34" charset="-122"/>
                <a:cs typeface="Inter" pitchFamily="34" charset="-120"/>
              </a:rPr>
              <a:t>Token extraction &amp; the round-trip back into Figma</a:t>
            </a:r>
            <a:endParaRPr lang="en-US" sz="1200" dirty="0"/>
          </a:p>
        </p:txBody>
      </p:sp>
      <p:sp>
        <p:nvSpPr>
          <p:cNvPr id="11" name="Shape 9"/>
          <p:cNvSpPr/>
          <p:nvPr/>
        </p:nvSpPr>
        <p:spPr>
          <a:xfrm>
            <a:off x="4370832" y="2514600"/>
            <a:ext cx="3456432" cy="2651760"/>
          </a:xfrm>
          <a:prstGeom prst="roundRect">
            <a:avLst>
              <a:gd name="adj" fmla="val 4828"/>
            </a:avLst>
          </a:prstGeom>
          <a:solidFill>
            <a:srgbClr val="FFFFFF"/>
          </a:solidFill>
          <a:ln w="28575">
            <a:solidFill>
              <a:srgbClr val="14121F"/>
            </a:solidFill>
            <a:prstDash val="solid"/>
          </a:ln>
          <a:effectLst>
            <a:outerShdw blurRad="101600" dist="76200" dir="2700000" algn="bl" rotWithShape="0">
              <a:srgbClr val="14121F">
                <a:alpha val="100000"/>
              </a:srgbClr>
            </a:outerShdw>
          </a:effectLst>
        </p:spPr>
        <p:txBody>
          <a:bodyPr/>
          <a:lstStyle/>
          <a:p>
            <a:endParaRPr lang="de-DE"/>
          </a:p>
        </p:txBody>
      </p:sp>
      <p:sp>
        <p:nvSpPr>
          <p:cNvPr id="12" name="Shape 10"/>
          <p:cNvSpPr/>
          <p:nvPr/>
        </p:nvSpPr>
        <p:spPr>
          <a:xfrm>
            <a:off x="4681728" y="2834640"/>
            <a:ext cx="566928" cy="566928"/>
          </a:xfrm>
          <a:prstGeom prst="roundRect">
            <a:avLst>
              <a:gd name="adj" fmla="val 50000"/>
            </a:avLst>
          </a:prstGeom>
          <a:solidFill>
            <a:srgbClr val="5B2EFF"/>
          </a:solidFill>
          <a:ln w="22225">
            <a:solidFill>
              <a:srgbClr val="14121F"/>
            </a:solidFill>
            <a:prstDash val="solid"/>
          </a:ln>
        </p:spPr>
        <p:txBody>
          <a:bodyPr/>
          <a:lstStyle/>
          <a:p>
            <a:endParaRPr lang="de-DE"/>
          </a:p>
        </p:txBody>
      </p:sp>
      <p:sp>
        <p:nvSpPr>
          <p:cNvPr id="13" name="Text 11"/>
          <p:cNvSpPr/>
          <p:nvPr/>
        </p:nvSpPr>
        <p:spPr>
          <a:xfrm>
            <a:off x="4681728" y="3566160"/>
            <a:ext cx="2880360" cy="457200"/>
          </a:xfrm>
          <a:prstGeom prst="rect">
            <a:avLst/>
          </a:prstGeom>
          <a:noFill/>
          <a:ln/>
        </p:spPr>
        <p:txBody>
          <a:bodyPr wrap="square" lIns="0" tIns="0" rIns="0" bIns="0" rtlCol="0" anchor="ctr"/>
          <a:lstStyle/>
          <a:p>
            <a:pPr marL="0" indent="0" algn="l">
              <a:buNone/>
            </a:pPr>
            <a:r>
              <a:rPr lang="en-US" sz="1900" b="1" dirty="0">
                <a:solidFill>
                  <a:srgbClr val="14121F"/>
                </a:solidFill>
                <a:latin typeface="Space Grotesk" pitchFamily="34" charset="0"/>
                <a:ea typeface="Space Grotesk" pitchFamily="34" charset="-122"/>
                <a:cs typeface="Space Grotesk" pitchFamily="34" charset="-120"/>
              </a:rPr>
              <a:t>Makram</a:t>
            </a:r>
            <a:endParaRPr lang="en-US" sz="1900" dirty="0"/>
          </a:p>
        </p:txBody>
      </p:sp>
      <p:sp>
        <p:nvSpPr>
          <p:cNvPr id="14" name="Text 12"/>
          <p:cNvSpPr/>
          <p:nvPr/>
        </p:nvSpPr>
        <p:spPr>
          <a:xfrm>
            <a:off x="4681728" y="4041648"/>
            <a:ext cx="2880360" cy="365760"/>
          </a:xfrm>
          <a:prstGeom prst="rect">
            <a:avLst/>
          </a:prstGeom>
          <a:noFill/>
          <a:ln/>
        </p:spPr>
        <p:txBody>
          <a:bodyPr wrap="square" lIns="0" tIns="0" rIns="0" bIns="0" rtlCol="0" anchor="ctr"/>
          <a:lstStyle/>
          <a:p>
            <a:pPr marL="0" indent="0" algn="l">
              <a:buNone/>
            </a:pPr>
            <a:r>
              <a:rPr lang="en-US" sz="1200" b="1" dirty="0">
                <a:solidFill>
                  <a:srgbClr val="5B2EFF"/>
                </a:solidFill>
                <a:latin typeface="JetBrains Mono" pitchFamily="34" charset="0"/>
                <a:ea typeface="JetBrains Mono" pitchFamily="34" charset="-122"/>
                <a:cs typeface="JetBrains Mono" pitchFamily="34" charset="-120"/>
              </a:rPr>
              <a:t>Webtool</a:t>
            </a:r>
            <a:endParaRPr lang="en-US" sz="1200" dirty="0"/>
          </a:p>
        </p:txBody>
      </p:sp>
      <p:sp>
        <p:nvSpPr>
          <p:cNvPr id="15" name="Text 13"/>
          <p:cNvSpPr/>
          <p:nvPr/>
        </p:nvSpPr>
        <p:spPr>
          <a:xfrm>
            <a:off x="4681728" y="4462272"/>
            <a:ext cx="2880360" cy="640080"/>
          </a:xfrm>
          <a:prstGeom prst="rect">
            <a:avLst/>
          </a:prstGeom>
          <a:noFill/>
          <a:ln/>
        </p:spPr>
        <p:txBody>
          <a:bodyPr wrap="square" lIns="0" tIns="0" rIns="0" bIns="0" rtlCol="0" anchor="ctr"/>
          <a:lstStyle/>
          <a:p>
            <a:pPr marL="0" indent="0" algn="l">
              <a:lnSpc>
                <a:spcPct val="115000"/>
              </a:lnSpc>
              <a:buNone/>
            </a:pPr>
            <a:r>
              <a:rPr lang="en-US" sz="1200" dirty="0">
                <a:solidFill>
                  <a:srgbClr val="6B6878"/>
                </a:solidFill>
                <a:latin typeface="Inter" pitchFamily="34" charset="0"/>
                <a:ea typeface="Inter" pitchFamily="34" charset="-122"/>
                <a:cs typeface="Inter" pitchFamily="34" charset="-120"/>
              </a:rPr>
              <a:t>Merge, role assignment &amp; the design.md export</a:t>
            </a:r>
            <a:endParaRPr lang="en-US" sz="1200" dirty="0"/>
          </a:p>
        </p:txBody>
      </p:sp>
      <p:sp>
        <p:nvSpPr>
          <p:cNvPr id="16" name="Shape 14"/>
          <p:cNvSpPr/>
          <p:nvPr/>
        </p:nvSpPr>
        <p:spPr>
          <a:xfrm>
            <a:off x="8101584" y="2514600"/>
            <a:ext cx="3456432" cy="2651760"/>
          </a:xfrm>
          <a:prstGeom prst="roundRect">
            <a:avLst>
              <a:gd name="adj" fmla="val 4828"/>
            </a:avLst>
          </a:prstGeom>
          <a:solidFill>
            <a:srgbClr val="FFFFFF"/>
          </a:solidFill>
          <a:ln w="28575">
            <a:solidFill>
              <a:srgbClr val="14121F"/>
            </a:solidFill>
            <a:prstDash val="solid"/>
          </a:ln>
          <a:effectLst>
            <a:outerShdw blurRad="101600" dist="76200" dir="2700000" algn="bl" rotWithShape="0">
              <a:srgbClr val="14121F">
                <a:alpha val="100000"/>
              </a:srgbClr>
            </a:outerShdw>
          </a:effectLst>
        </p:spPr>
        <p:txBody>
          <a:bodyPr/>
          <a:lstStyle/>
          <a:p>
            <a:endParaRPr lang="de-DE"/>
          </a:p>
        </p:txBody>
      </p:sp>
      <p:sp>
        <p:nvSpPr>
          <p:cNvPr id="17" name="Shape 15"/>
          <p:cNvSpPr/>
          <p:nvPr/>
        </p:nvSpPr>
        <p:spPr>
          <a:xfrm>
            <a:off x="8412480" y="2834640"/>
            <a:ext cx="566928" cy="566928"/>
          </a:xfrm>
          <a:prstGeom prst="roundRect">
            <a:avLst>
              <a:gd name="adj" fmla="val 50000"/>
            </a:avLst>
          </a:prstGeom>
          <a:solidFill>
            <a:srgbClr val="5B2EFF"/>
          </a:solidFill>
          <a:ln w="22225">
            <a:solidFill>
              <a:srgbClr val="14121F"/>
            </a:solidFill>
            <a:prstDash val="solid"/>
          </a:ln>
        </p:spPr>
        <p:txBody>
          <a:bodyPr/>
          <a:lstStyle/>
          <a:p>
            <a:endParaRPr lang="de-DE"/>
          </a:p>
        </p:txBody>
      </p:sp>
      <p:sp>
        <p:nvSpPr>
          <p:cNvPr id="18" name="Text 16"/>
          <p:cNvSpPr/>
          <p:nvPr/>
        </p:nvSpPr>
        <p:spPr>
          <a:xfrm>
            <a:off x="8412480" y="3566160"/>
            <a:ext cx="2880360" cy="457200"/>
          </a:xfrm>
          <a:prstGeom prst="rect">
            <a:avLst/>
          </a:prstGeom>
          <a:noFill/>
          <a:ln/>
        </p:spPr>
        <p:txBody>
          <a:bodyPr wrap="square" lIns="0" tIns="0" rIns="0" bIns="0" rtlCol="0" anchor="ctr"/>
          <a:lstStyle/>
          <a:p>
            <a:pPr marL="0" indent="0" algn="l">
              <a:buNone/>
            </a:pPr>
            <a:r>
              <a:rPr lang="en-US" sz="1900" b="1" dirty="0">
                <a:solidFill>
                  <a:srgbClr val="14121F"/>
                </a:solidFill>
                <a:latin typeface="Space Grotesk" pitchFamily="34" charset="0"/>
                <a:ea typeface="Space Grotesk" pitchFamily="34" charset="-122"/>
                <a:cs typeface="Space Grotesk" pitchFamily="34" charset="-120"/>
              </a:rPr>
              <a:t>Murtaza</a:t>
            </a:r>
            <a:endParaRPr lang="en-US" sz="1900" dirty="0"/>
          </a:p>
        </p:txBody>
      </p:sp>
      <p:sp>
        <p:nvSpPr>
          <p:cNvPr id="19" name="Text 17"/>
          <p:cNvSpPr/>
          <p:nvPr/>
        </p:nvSpPr>
        <p:spPr>
          <a:xfrm>
            <a:off x="8412480" y="4041648"/>
            <a:ext cx="2880360" cy="365760"/>
          </a:xfrm>
          <a:prstGeom prst="rect">
            <a:avLst/>
          </a:prstGeom>
          <a:noFill/>
          <a:ln/>
        </p:spPr>
        <p:txBody>
          <a:bodyPr wrap="square" lIns="0" tIns="0" rIns="0" bIns="0" rtlCol="0" anchor="ctr"/>
          <a:lstStyle/>
          <a:p>
            <a:pPr marL="0" indent="0" algn="l">
              <a:buNone/>
            </a:pPr>
            <a:r>
              <a:rPr lang="en-US" sz="1200" b="1" dirty="0">
                <a:solidFill>
                  <a:srgbClr val="5B2EFF"/>
                </a:solidFill>
                <a:latin typeface="JetBrains Mono" pitchFamily="34" charset="0"/>
                <a:ea typeface="JetBrains Mono" pitchFamily="34" charset="-122"/>
                <a:cs typeface="JetBrains Mono" pitchFamily="34" charset="-120"/>
              </a:rPr>
              <a:t>Browser extension</a:t>
            </a:r>
            <a:endParaRPr lang="en-US" sz="1200" dirty="0"/>
          </a:p>
        </p:txBody>
      </p:sp>
      <p:sp>
        <p:nvSpPr>
          <p:cNvPr id="20" name="Text 18"/>
          <p:cNvSpPr/>
          <p:nvPr/>
        </p:nvSpPr>
        <p:spPr>
          <a:xfrm>
            <a:off x="8412480" y="4462272"/>
            <a:ext cx="2880360" cy="640080"/>
          </a:xfrm>
          <a:prstGeom prst="rect">
            <a:avLst/>
          </a:prstGeom>
          <a:noFill/>
          <a:ln/>
        </p:spPr>
        <p:txBody>
          <a:bodyPr wrap="square" lIns="0" tIns="0" rIns="0" bIns="0" rtlCol="0" anchor="ctr"/>
          <a:lstStyle/>
          <a:p>
            <a:pPr marL="0" indent="0" algn="l">
              <a:lnSpc>
                <a:spcPct val="115000"/>
              </a:lnSpc>
              <a:buNone/>
            </a:pPr>
            <a:r>
              <a:rPr lang="en-US" sz="1200" dirty="0">
                <a:solidFill>
                  <a:srgbClr val="6B6878"/>
                </a:solidFill>
                <a:latin typeface="Inter" pitchFamily="34" charset="0"/>
                <a:ea typeface="Inter" pitchFamily="34" charset="-122"/>
                <a:cs typeface="Inter" pitchFamily="34" charset="-120"/>
              </a:rPr>
              <a:t>The “Web Picker” — token capture in the browser</a:t>
            </a:r>
            <a:endParaRPr lang="en-US" sz="1200" dirty="0"/>
          </a:p>
        </p:txBody>
      </p:sp>
      <p:sp>
        <p:nvSpPr>
          <p:cNvPr id="21" name="Text 19"/>
          <p:cNvSpPr/>
          <p:nvPr/>
        </p:nvSpPr>
        <p:spPr>
          <a:xfrm>
            <a:off x="640080" y="5623560"/>
            <a:ext cx="10881360" cy="640080"/>
          </a:xfrm>
          <a:prstGeom prst="rect">
            <a:avLst/>
          </a:prstGeom>
          <a:noFill/>
          <a:ln/>
        </p:spPr>
        <p:txBody>
          <a:bodyPr wrap="square" lIns="0" tIns="0" rIns="0" bIns="0" rtlCol="0" anchor="ctr"/>
          <a:lstStyle/>
          <a:p>
            <a:pPr marL="0" indent="0" algn="l">
              <a:buNone/>
            </a:pPr>
            <a:r>
              <a:rPr lang="en-US" sz="2600" b="1" dirty="0">
                <a:solidFill>
                  <a:srgbClr val="14121F"/>
                </a:solidFill>
                <a:latin typeface="Space Grotesk" pitchFamily="34" charset="0"/>
                <a:ea typeface="Space Grotesk" pitchFamily="34" charset="-122"/>
                <a:cs typeface="Space Grotesk" pitchFamily="34" charset="-120"/>
              </a:rPr>
              <a:t>Style</a:t>
            </a:r>
            <a:r>
              <a:rPr lang="en-US" sz="2600" b="1" dirty="0">
                <a:solidFill>
                  <a:srgbClr val="5B2EFF"/>
                </a:solidFill>
                <a:latin typeface="Space Grotesk" pitchFamily="34" charset="0"/>
                <a:ea typeface="Space Grotesk" pitchFamily="34" charset="-122"/>
                <a:cs typeface="Space Grotesk" pitchFamily="34" charset="-120"/>
              </a:rPr>
              <a:t>Snap</a:t>
            </a:r>
            <a:r>
              <a:rPr lang="en-US" sz="2600" b="1" dirty="0">
                <a:solidFill>
                  <a:srgbClr val="6B6878"/>
                </a:solidFill>
                <a:latin typeface="Space Grotesk" pitchFamily="34" charset="0"/>
                <a:ea typeface="Space Grotesk" pitchFamily="34" charset="-122"/>
                <a:cs typeface="Space Grotesk" pitchFamily="34" charset="-120"/>
              </a:rPr>
              <a:t>   Thank you — questions?</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1147</Words>
  <Application>Microsoft Macintosh PowerPoint</Application>
  <PresentationFormat>Breitbild</PresentationFormat>
  <Paragraphs>149</Paragraphs>
  <Slides>8</Slides>
  <Notes>8</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8</vt:i4>
      </vt:variant>
    </vt:vector>
  </HeadingPairs>
  <TitlesOfParts>
    <vt:vector size="13" baseType="lpstr">
      <vt:lpstr>Arial</vt:lpstr>
      <vt:lpstr>Inter</vt:lpstr>
      <vt:lpstr>JetBrains Mono</vt:lpstr>
      <vt:lpstr>Space Grotesk</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Theresa Buchner</cp:lastModifiedBy>
  <cp:revision>3</cp:revision>
  <dcterms:created xsi:type="dcterms:W3CDTF">2026-07-18T07:55:49Z</dcterms:created>
  <dcterms:modified xsi:type="dcterms:W3CDTF">2026-07-18T08:00:49Z</dcterms:modified>
</cp:coreProperties>
</file>